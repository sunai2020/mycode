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cef8c5365fc24631" /><Relationship Type="http://schemas.openxmlformats.org/package/2006/relationships/metadata/core-properties" Target="/docProps/core.xml" Id="Rb300769f0b2c4038" /><Relationship Type="http://schemas.openxmlformats.org/officeDocument/2006/relationships/extended-properties" Target="/docProps/app.xml" Id="R00b29152ed304f8c" /><Relationship Type="http://schemas.openxmlformats.org/officeDocument/2006/relationships/custom-properties" Target="/docProps/custom.xml" Id="R4f58cb3752754d8c"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sldIdLst>
    <p:sldId id="256" r:id="Rc59b722dc4574b5c"/>
    <p:sldId id="257" r:id="R9a57e6d894654c38"/>
    <p:sldId id="258" r:id="Ra4f9a554b4ac4191"/>
    <p:sldId id="259" r:id="Ra91f472ca9fd45a1"/>
    <p:sldId id="260" r:id="R8ecf682c32334b75"/>
    <p:sldId id="261" r:id="R1fcf3b5eae8746e2"/>
    <p:sldId id="262" r:id="Rdcf05b3b0dbe4986"/>
    <p:sldId id="263" r:id="R9a09be3b5de3454e"/>
    <p:sldId id="264" r:id="Rbdd38184e9d549cd"/>
    <p:sldId id="265" r:id="Rc9e18dfe1cea465d"/>
    <p:sldId id="266" r:id="R04d5020a73744d20"/>
    <p:sldId id="267" r:id="R211d28a2503440b7"/>
    <p:sldId id="268" r:id="R91914ed1a1904825"/>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c59b722dc4574b5c" /><Relationship Type="http://schemas.openxmlformats.org/officeDocument/2006/relationships/slide" Target="/ppt/slides/slide2.xml" Id="R9a57e6d894654c38" /><Relationship Type="http://schemas.openxmlformats.org/officeDocument/2006/relationships/slide" Target="/ppt/slides/slide3.xml" Id="Ra4f9a554b4ac4191" /><Relationship Type="http://schemas.openxmlformats.org/officeDocument/2006/relationships/slide" Target="/ppt/slides/slide4.xml" Id="Ra91f472ca9fd45a1" /><Relationship Type="http://schemas.openxmlformats.org/officeDocument/2006/relationships/slide" Target="/ppt/slides/slide5.xml" Id="R8ecf682c32334b75" /><Relationship Type="http://schemas.openxmlformats.org/officeDocument/2006/relationships/slide" Target="/ppt/slides/slide6.xml" Id="R1fcf3b5eae8746e2" /><Relationship Type="http://schemas.openxmlformats.org/officeDocument/2006/relationships/slide" Target="/ppt/slides/slide7.xml" Id="Rdcf05b3b0dbe4986" /><Relationship Type="http://schemas.openxmlformats.org/officeDocument/2006/relationships/slide" Target="/ppt/slides/slide8.xml" Id="R9a09be3b5de3454e" /><Relationship Type="http://schemas.openxmlformats.org/officeDocument/2006/relationships/slide" Target="/ppt/slides/slide9.xml" Id="Rbdd38184e9d549cd" /><Relationship Type="http://schemas.openxmlformats.org/officeDocument/2006/relationships/slide" Target="/ppt/slides/slide10.xml" Id="Rc9e18dfe1cea465d" /><Relationship Type="http://schemas.openxmlformats.org/officeDocument/2006/relationships/slide" Target="/ppt/slides/slide11.xml" Id="R04d5020a73744d20" /><Relationship Type="http://schemas.openxmlformats.org/officeDocument/2006/relationships/slide" Target="/ppt/slides/slide12.xml" Id="R211d28a2503440b7" /><Relationship Type="http://schemas.openxmlformats.org/officeDocument/2006/relationships/slide" Target="/ppt/slides/slide13.xml" Id="R91914ed1a19048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everyone. Today I'll present the Claude Code Management System (CCMS) — a comprehensive AI sub-agent orchestration platform with visual dashboard, WeChat integration, and multi-modal interaction capabilities.</a:t>
            </a:r>
          </a:p>
        </p:txBody>
      </p:sp>
    </p:spTree>
  </p:cSld>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Today's presentation covers 9 key areas of the CCMS project. We'll go from background through technical architecture to the development roadmap. Key highlights: 20+ database tables, 16 built-in Agent roles, 3-platform coverage, and real-time WebGL visualization.</a:t>
            </a:r>
          </a:p>
        </p:txBody>
      </p:sp>
    </p:spTree>
  </p:cSld>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CCMS addresses the gap between Claude Code's powerful capabilities and the need for centralized management. The vision is to create an AI-era command center where developers manage AI sub-agents like a team — with visual dashboards, real-time monitoring, and mobile access via WeChat.</a:t>
            </a:r>
          </a:p>
        </p:txBody>
      </p:sp>
    </p:spTree>
  </p:cSld>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tech stack spans three layers: FastAPI backend with async PostgreSQL and Redis, React 18 frontend with PixiJS WebGL for office visualization, and Taro-based WeChat mini-program for mobile access. All share Zustand for state management patterns.</a:t>
            </a:r>
          </a:p>
        </p:txBody>
      </p:sp>
    </p:spTree>
  </p:cSld>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architecture follows a clean 4-layer pattern: Client Layer supports React Web, WeChat Mini-Program, and Official Account. API Gateway provides REST and WebSocket endpoints with JWT auth. Service Layer contains the core business logic including Agent Orchestrator, WeChat services, and notification engine. Data Layer uses PostgreSQL for persistence, Redis for real-time pub/sub, and Celery for async task processing.</a:t>
            </a:r>
          </a:p>
        </p:txBody>
      </p:sp>
    </p:spTree>
  </p:cSld>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CCMS integrates deeply with the WeChat ecosystem through two channels: the Mini-Program (built with Taro 4.x) provides 5 core tabs for mobile Agent management, while the Official Account enables template message push notifications, NLP-powered customer service interactions, and menu-based quick actions.</a:t>
            </a:r>
          </a:p>
        </p:txBody>
      </p:sp>
    </p:spTree>
  </p:cSld>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database design centers on 20+ PostgreSQL tables. Core entities include users, projects, sub_agents, agent_sessions, skills, nodes, and cron_jobs. WeChat-specific tables handle user binding, message records, and push notifications. metric_snapshots uses monthly partitioning for time-series performance.</a:t>
            </a:r>
          </a:p>
        </p:txBody>
      </p:sp>
    </p:spTree>
  </p:cSld>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Agent Orchestrator is the heart of CCMS, managing the full lifecycle from creation through archival. Key capabilities include multi-agent collaboration, session management with full history, real-time token tracking, pluggable skill system, cron job scheduling with retry logic, and WeChat push notifications for task status updates.</a:t>
            </a:r>
          </a:p>
        </p:txBody>
      </p:sp>
    </p:spTree>
  </p:cSld>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office scene visualization is CCMS's signature feature. Using PixiJS 8 WebGL, each sub-agent is rendered as an animated office character with distinct states: idle, working, and alert. Real-time metrics like CPU, memory, and token usage are displayed as office props. The entire system runs at 60 FPS with WebSocket + Redis pub/sub for instant state synchronization.</a:t>
            </a:r>
          </a:p>
        </p:txBody>
      </p:sp>
    </p:spTree>
  </p:cSld>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backend follows a clean layered architecture: api/ for HTTP and WebSocket routes, ws/ for real-time communication management, services/ for business logic (with agent_orchestrator.py as the core), models/ for 20+ ORM models, and tasks/ for Celery workers. The frontend uses React 18 with PixiJS for visualization, and the WeChat mini-program uses Taro 4.x for cross-platform compatibility.</a:t>
            </a:r>
          </a:p>
        </p:txBody>
      </p:sp>
    </p:spTree>
  </p:cSld>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infrastructure uses Docker Compose with four core services: PostgreSQL 16 (Alpine), Redis 7 (Alpine, 256MB LRU cache), FastAPI with uvicorn (Python 3.11 + Poetry + Celery), and Nginx for reverse proxy and SSL termination. For production, we recommend Kubernetes with Cloud SQL and ElastiCache. CI/CD via GitHub Actions with lint→test→build→deploy pipeline.</a:t>
            </a:r>
          </a:p>
        </p:txBody>
      </p:sp>
    </p:spTree>
  </p:cSld>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roadmap spans three phases: Phase 1 delivers the MVP with core backend API, JWT auth, Agent CRUD, and Docker deployment. Phase 2 adds the visual layer: PixiJS office scene, terminal, editor, dashboard, WeChat mini-program, and the agent orchestrator. Phase 3 focuses on scaling: Kubernetes, horizontal scaling, WeChat OA deep integration, NLP commands, and a plugin marketplace.</a:t>
            </a:r>
          </a:p>
        </p:txBody>
      </p:sp>
    </p:spTree>
  </p:cSld>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Thank you for your time. I'm happy to answer any questions about the CCMS architecture, tech stack, or development roadmap. The project is open source and we welcome contributions.</a:t>
            </a:r>
          </a:p>
        </p:txBody>
      </p:sp>
    </p:spTree>
  </p:cSld>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4ab282137545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51ee54922d4d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5a1802db474e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a1fd14100d47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37df6cc2b34132"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86d0d7e6e3794f03"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11fba172e35b4402" /><Relationship Type="http://schemas.openxmlformats.org/officeDocument/2006/relationships/notesSlide" Target="/ppt/notesSlides/notesSlide1.xml" Id="Ra2a8213b3b0f4d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152f550a214c98" /><Relationship Type="http://schemas.openxmlformats.org/officeDocument/2006/relationships/notesSlide" Target="/ppt/notesSlides/notesSlide2.xml" Id="R1567a1efb64c4c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84290c59cf4353" /><Relationship Type="http://schemas.openxmlformats.org/officeDocument/2006/relationships/notesSlide" Target="/ppt/notesSlides/notesSlide3.xml" Id="R82c09ed9b69146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5aada4e9d449ec" /><Relationship Type="http://schemas.openxmlformats.org/officeDocument/2006/relationships/notesSlide" Target="/ppt/notesSlides/notesSlide4.xml" Id="R9832fe7953624c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8d347c852d447a" /><Relationship Type="http://schemas.openxmlformats.org/officeDocument/2006/relationships/notesSlide" Target="/ppt/notesSlides/notesSlide5.xml" Id="Rb494b7d0b4e841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81a6e49ba9446d" /><Relationship Type="http://schemas.openxmlformats.org/officeDocument/2006/relationships/notesSlide" Target="/ppt/notesSlides/notesSlide6.xml" Id="R87b5be04639d41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84cb5a39424925" /><Relationship Type="http://schemas.openxmlformats.org/officeDocument/2006/relationships/notesSlide" Target="/ppt/notesSlides/notesSlide7.xml" Id="Re5b2353fc9a141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f19ddd91f746a8" /><Relationship Type="http://schemas.openxmlformats.org/officeDocument/2006/relationships/notesSlide" Target="/ppt/notesSlides/notesSlide8.xml" Id="R94906b6e213b48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f902c6d81940c0" /><Relationship Type="http://schemas.openxmlformats.org/officeDocument/2006/relationships/notesSlide" Target="/ppt/notesSlides/notesSlide9.xml" Id="R08b7d22191a54f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7cc85d66bd424d" /><Relationship Type="http://schemas.openxmlformats.org/officeDocument/2006/relationships/notesSlide" Target="/ppt/notesSlides/notesSlide10.xml" Id="R2bf8704a0a6645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03848428a54671" /><Relationship Type="http://schemas.openxmlformats.org/officeDocument/2006/relationships/notesSlide" Target="/ppt/notesSlides/notesSlide11.xml" Id="R5aec2c93085c46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489ffe19a4641cb" /><Relationship Type="http://schemas.openxmlformats.org/officeDocument/2006/relationships/notesSlide" Target="/ppt/notesSlides/notesSlide12.xml" Id="R8486f98d86ef4f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231af9bd2743c8" /><Relationship Type="http://schemas.openxmlformats.org/officeDocument/2006/relationships/notesSlide" Target="/ppt/notesSlides/notesSlide13.xml" Id="Rf52f1db5add3489c" /></Relationships>
</file>

<file path=ppt/slides/slide1.xml><?xml version="1.0" encoding="utf-8"?>
<p:sld xmlns:a="http://schemas.openxmlformats.org/drawingml/2006/main" xmlns:p="http://schemas.openxmlformats.org/presentationml/2006/main">
  <p:cSld>
    <p:bg>
      <p:bgPr>
        <a:solidFill xmlns:a="http://schemas.openxmlformats.org/drawingml/2006/main">
          <a:srgbClr val="1E2761"/>
        </a:solidFill>
      </p:bgPr>
    </p:bg>
    <p:spTree>
      <p:nvGrpSpPr>
        <p:cNvPr id="1" name=""/>
        <p:cNvGrpSpPr/>
        <p:nvPr/>
      </p:nvGrpSpPr>
      <p:grpSpPr/>
      <p:sp>
        <p:nvSpPr>
          <p:cNvPr id="100000" name="TextBox 1"/>
          <p:cNvSpPr/>
          <p:nvPr/>
        </p:nvSpPr>
        <p:spPr>
          <a:xfrm>
            <a:off x="0" y="0"/>
            <a:ext cx="144000" cy="6858000"/>
          </a:xfrm>
          <a:prstGeom prst="rect">
            <a:avLst/>
          </a:prstGeom>
          <a:solidFill>
            <a:srgbClr val="CADCFC">
              <a:alpha val="80000"/>
            </a:srgbClr>
          </a:solidFill>
          <a:ln>
            <a:noFill/>
          </a:ln>
        </p:spPr>
        <p:txBody>
          <a:bodyPr/>
          <a:lstStyle/>
          <a:p/>
        </p:txBody>
      </p:sp>
      <p:sp>
        <p:nvSpPr>
          <p:cNvPr id="100001" name="CoverTitle"/>
          <p:cNvSpPr txBox="1"/>
          <p:nvPr/>
        </p:nvSpPr>
        <p:spPr>
          <a:xfrm>
            <a:off x="900000" y="1800000"/>
            <a:ext cx="10440000" cy="1260000"/>
          </a:xfrm>
          <a:prstGeom prst="rect">
            <a:avLst/>
          </a:prstGeom>
        </p:spPr>
        <p:txBody>
          <a:bodyPr/>
          <a:lstStyle/>
          <a:p>
            <a:pPr algn="l"/>
            <a:r>
              <a:rPr lang="en-US" sz="4400" b="1">
                <a:solidFill>
                  <a:srgbClr val="FFFFFF"/>
                </a:solidFill>
                <a:latin typeface="Georgia"/>
                <a:ea typeface="Georgia"/>
              </a:rPr>
              <a:t>Claude Code Management System</a:t>
            </a:r>
          </a:p>
        </p:txBody>
      </p:sp>
      <p:sp>
        <p:nvSpPr>
          <p:cNvPr id="100002" name="CoverSubtitle"/>
          <p:cNvSpPr txBox="1"/>
          <p:nvPr/>
        </p:nvSpPr>
        <p:spPr>
          <a:xfrm>
            <a:off x="900000" y="3420000"/>
            <a:ext cx="10440000" cy="540000"/>
          </a:xfrm>
          <a:prstGeom prst="rect">
            <a:avLst/>
          </a:prstGeom>
        </p:spPr>
        <p:txBody>
          <a:bodyPr/>
          <a:lstStyle/>
          <a:p>
            <a:pPr algn="l"/>
            <a:r>
              <a:rPr lang="en-US" sz="2000">
                <a:solidFill>
                  <a:srgbClr val="CADCFC"/>
                </a:solidFill>
                <a:latin typeface="Calibri"/>
                <a:ea typeface="Calibri"/>
              </a:rPr>
              <a:t>AI 子 Agent 协同管理中控台 — 架构设计与技术方案</a:t>
            </a:r>
          </a:p>
        </p:txBody>
      </p:sp>
      <p:sp>
        <p:nvSpPr>
          <p:cNvPr id="100003" name="CoverMeta"/>
          <p:cNvSpPr txBox="1"/>
          <p:nvPr/>
        </p:nvSpPr>
        <p:spPr>
          <a:xfrm>
            <a:off x="900000" y="5040000"/>
            <a:ext cx="10440000" cy="360000"/>
          </a:xfrm>
          <a:prstGeom prst="rect">
            <a:avLst/>
          </a:prstGeom>
        </p:spPr>
        <p:txBody>
          <a:bodyPr/>
          <a:lstStyle/>
          <a:p>
            <a:pPr algn="l"/>
            <a:r>
              <a:rPr lang="en-US" sz="1400">
                <a:solidFill>
                  <a:srgbClr val="8899BB"/>
                </a:solidFill>
                <a:latin typeface="Calibri"/>
                <a:ea typeface="Calibri"/>
              </a:rPr>
              <a:t>2026.06  |  CCMS Team  |  v0.1.0</a:t>
            </a:r>
          </a:p>
        </p:txBody>
      </p:sp>
    </p:spTree>
  </p:cSld>
</p:sld>
</file>

<file path=ppt/slides/slide2.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04" name="TextBox 1"/>
          <p:cNvSpPr/>
          <p:nvPr/>
        </p:nvSpPr>
        <p:spPr>
          <a:xfrm>
            <a:off x="0" y="0"/>
            <a:ext cx="144000" cy="6858000"/>
          </a:xfrm>
          <a:prstGeom prst="rect">
            <a:avLst/>
          </a:prstGeom>
          <a:solidFill>
            <a:srgbClr val="1E2761"/>
          </a:solidFill>
          <a:ln>
            <a:noFill/>
          </a:ln>
        </p:spPr>
        <p:txBody>
          <a:bodyPr/>
          <a:lstStyle/>
          <a:p/>
        </p:txBody>
      </p:sp>
      <p:sp>
        <p:nvSpPr>
          <p:cNvPr id="100005" name="TextBox 2"/>
          <p:cNvSpPr txBox="1"/>
          <p:nvPr/>
        </p:nvSpPr>
        <p:spPr>
          <a:xfrm>
            <a:off x="900000" y="432000"/>
            <a:ext cx="10080000" cy="720000"/>
          </a:xfrm>
          <a:prstGeom prst="rect">
            <a:avLst/>
          </a:prstGeom>
        </p:spPr>
        <p:txBody>
          <a:bodyPr/>
          <a:lstStyle/>
          <a:p>
            <a:pPr algn="l"/>
            <a:r>
              <a:rPr lang="en-US" sz="3600" b="1">
                <a:solidFill>
                  <a:srgbClr val="1E2761"/>
                </a:solidFill>
                <a:latin typeface="Georgia"/>
                <a:ea typeface="Georgia"/>
              </a:rPr>
              <a:t>Agenda</a:t>
            </a:r>
          </a:p>
        </p:txBody>
      </p:sp>
      <p:sp>
        <p:nvSpPr>
          <p:cNvPr id="100006" name="TextBox 3"/>
          <p:cNvSpPr txBox="1"/>
          <p:nvPr/>
        </p:nvSpPr>
        <p:spPr>
          <a:xfrm>
            <a:off x="900000" y="1260000"/>
            <a:ext cx="4680000" cy="5040000"/>
          </a:xfrm>
          <a:prstGeom prst="rect">
            <a:avLst/>
          </a:prstGeom>
        </p:spPr>
        <p:txBody>
          <a:bodyPr/>
          <a:lstStyle/>
          <a:p>
            <a:pPr algn="l"/>
            <a:r>
              <a:rPr lang="en-US" sz="1800">
                <a:solidFill>
                  <a:srgbClr val="333333"/>
                </a:solidFill>
                <a:latin typeface="Calibri"/>
                <a:ea typeface="Calibri"/>
              </a:rPr>
              <a:t>01  背景与项目愿景</a:t>
            </a:r>
          </a:p>
          <a:p>
            <a:pPr algn="l"/>
            <a:r>
              <a:rPr lang="en-US" sz="1800">
                <a:solidFill>
                  <a:srgbClr val="333333"/>
                </a:solidFill>
                <a:latin typeface="Calibri"/>
                <a:ea typeface="Calibri"/>
              </a:rPr>
              <a:t/>
            </a:r>
          </a:p>
          <a:p>
            <a:pPr algn="l"/>
            <a:r>
              <a:rPr lang="en-US" sz="1800">
                <a:solidFill>
                  <a:srgbClr val="333333"/>
                </a:solidFill>
                <a:latin typeface="Calibri"/>
                <a:ea typeface="Calibri"/>
              </a:rPr>
              <a:t>02  技术栈总览</a:t>
            </a:r>
          </a:p>
          <a:p>
            <a:pPr algn="l"/>
            <a:r>
              <a:rPr lang="en-US" sz="1800">
                <a:solidFill>
                  <a:srgbClr val="333333"/>
                </a:solidFill>
                <a:latin typeface="Calibri"/>
                <a:ea typeface="Calibri"/>
              </a:rPr>
              <a:t/>
            </a:r>
          </a:p>
          <a:p>
            <a:pPr algn="l"/>
            <a:r>
              <a:rPr lang="en-US" sz="1800">
                <a:solidFill>
                  <a:srgbClr val="333333"/>
                </a:solidFill>
                <a:latin typeface="Calibri"/>
                <a:ea typeface="Calibri"/>
              </a:rPr>
              <a:t>03  系统架构设计</a:t>
            </a:r>
          </a:p>
          <a:p>
            <a:pPr algn="l"/>
            <a:r>
              <a:rPr lang="en-US" sz="1800">
                <a:solidFill>
                  <a:srgbClr val="333333"/>
                </a:solidFill>
                <a:latin typeface="Calibri"/>
                <a:ea typeface="Calibri"/>
              </a:rPr>
              <a:t/>
            </a:r>
          </a:p>
          <a:p>
            <a:pPr algn="l"/>
            <a:r>
              <a:rPr lang="en-US" sz="1800">
                <a:solidFill>
                  <a:srgbClr val="333333"/>
                </a:solidFill>
                <a:latin typeface="Calibri"/>
                <a:ea typeface="Calibri"/>
              </a:rPr>
              <a:t>04  微信生态集成</a:t>
            </a:r>
          </a:p>
          <a:p>
            <a:pPr algn="l"/>
            <a:r>
              <a:rPr lang="en-US" sz="1800">
                <a:solidFill>
                  <a:srgbClr val="333333"/>
                </a:solidFill>
                <a:latin typeface="Calibri"/>
                <a:ea typeface="Calibri"/>
              </a:rPr>
              <a:t/>
            </a:r>
          </a:p>
          <a:p>
            <a:pPr algn="l"/>
            <a:r>
              <a:rPr lang="en-US" sz="1800">
                <a:solidFill>
                  <a:srgbClr val="333333"/>
                </a:solidFill>
                <a:latin typeface="Calibri"/>
                <a:ea typeface="Calibri"/>
              </a:rPr>
              <a:t>05  数据库设计</a:t>
            </a:r>
          </a:p>
          <a:p>
            <a:pPr algn="l"/>
            <a:r>
              <a:rPr lang="en-US" sz="1800">
                <a:solidFill>
                  <a:srgbClr val="333333"/>
                </a:solidFill>
                <a:latin typeface="Calibri"/>
                <a:ea typeface="Calibri"/>
              </a:rPr>
              <a:t/>
            </a:r>
          </a:p>
          <a:p>
            <a:pPr algn="l"/>
            <a:r>
              <a:rPr lang="en-US" sz="1800">
                <a:solidFill>
                  <a:srgbClr val="333333"/>
                </a:solidFill>
                <a:latin typeface="Calibri"/>
                <a:ea typeface="Calibri"/>
              </a:rPr>
              <a:t>06  核心功能 — Agent 编排</a:t>
            </a:r>
          </a:p>
          <a:p>
            <a:pPr algn="l"/>
            <a:r>
              <a:rPr lang="en-US" sz="1800">
                <a:solidFill>
                  <a:srgbClr val="333333"/>
                </a:solidFill>
                <a:latin typeface="Calibri"/>
                <a:ea typeface="Calibri"/>
              </a:rPr>
              <a:t/>
            </a:r>
          </a:p>
          <a:p>
            <a:pPr algn="l"/>
            <a:r>
              <a:rPr lang="en-US" sz="1800">
                <a:solidFill>
                  <a:srgbClr val="333333"/>
                </a:solidFill>
                <a:latin typeface="Calibri"/>
                <a:ea typeface="Calibri"/>
              </a:rPr>
              <a:t>07  办公室场景可视化</a:t>
            </a:r>
          </a:p>
          <a:p>
            <a:pPr algn="l"/>
            <a:r>
              <a:rPr lang="en-US" sz="1800">
                <a:solidFill>
                  <a:srgbClr val="333333"/>
                </a:solidFill>
                <a:latin typeface="Calibri"/>
                <a:ea typeface="Calibri"/>
              </a:rPr>
              <a:t/>
            </a:r>
          </a:p>
          <a:p>
            <a:pPr algn="l"/>
            <a:r>
              <a:rPr lang="en-US" sz="1800">
                <a:solidFill>
                  <a:srgbClr val="333333"/>
                </a:solidFill>
                <a:latin typeface="Calibri"/>
                <a:ea typeface="Calibri"/>
              </a:rPr>
              <a:t>08  模块结构与部署方案</a:t>
            </a:r>
          </a:p>
          <a:p>
            <a:pPr algn="l"/>
            <a:r>
              <a:rPr lang="en-US" sz="1800">
                <a:solidFill>
                  <a:srgbClr val="333333"/>
                </a:solidFill>
                <a:latin typeface="Calibri"/>
                <a:ea typeface="Calibri"/>
              </a:rPr>
              <a:t/>
            </a:r>
          </a:p>
          <a:p>
            <a:pPr algn="l"/>
            <a:r>
              <a:rPr lang="en-US" sz="1800">
                <a:solidFill>
                  <a:srgbClr val="333333"/>
                </a:solidFill>
                <a:latin typeface="Calibri"/>
                <a:ea typeface="Calibri"/>
              </a:rPr>
              <a:t>09  发展路线图</a:t>
            </a:r>
          </a:p>
        </p:txBody>
      </p:sp>
      <p:sp>
        <p:nvSpPr>
          <p:cNvPr id="100007" name="TextBox 4"/>
          <p:cNvSpPr/>
          <p:nvPr/>
        </p:nvSpPr>
        <p:spPr>
          <a:xfrm>
            <a:off x="6480000" y="1260000"/>
            <a:ext cx="4680000" cy="5040000"/>
          </a:xfrm>
          <a:prstGeom prst="roundRect">
            <a:avLst/>
          </a:prstGeom>
          <a:solidFill>
            <a:srgbClr val="F2F5FA"/>
          </a:solidFill>
          <a:ln>
            <a:noFill/>
          </a:ln>
        </p:spPr>
        <p:txBody>
          <a:bodyPr/>
          <a:lstStyle/>
          <a:p/>
        </p:txBody>
      </p:sp>
      <p:sp>
        <p:nvSpPr>
          <p:cNvPr id="100008" name="TextBox 5"/>
          <p:cNvSpPr txBox="1"/>
          <p:nvPr/>
        </p:nvSpPr>
        <p:spPr>
          <a:xfrm>
            <a:off x="6840000" y="1620000"/>
            <a:ext cx="3960000" cy="540000"/>
          </a:xfrm>
          <a:prstGeom prst="rect">
            <a:avLst/>
          </a:prstGeom>
        </p:spPr>
        <p:txBody>
          <a:bodyPr/>
          <a:lstStyle/>
          <a:p>
            <a:pPr algn="l"/>
            <a:r>
              <a:rPr lang="en-US" sz="2200" b="1">
                <a:solidFill>
                  <a:srgbClr val="1E2761"/>
                </a:solidFill>
                <a:latin typeface="Georgia"/>
                <a:ea typeface="Georgia"/>
              </a:rPr>
              <a:t>Key Highlights</a:t>
            </a:r>
          </a:p>
        </p:txBody>
      </p:sp>
      <p:sp>
        <p:nvSpPr>
          <p:cNvPr id="100009" name="TextBox 6"/>
          <p:cNvSpPr txBox="1"/>
          <p:nvPr/>
        </p:nvSpPr>
        <p:spPr>
          <a:xfrm>
            <a:off x="6840000" y="2340000"/>
            <a:ext cx="3960000" cy="3240000"/>
          </a:xfrm>
          <a:prstGeom prst="rect">
            <a:avLst/>
          </a:prstGeom>
        </p:spPr>
        <p:txBody>
          <a:bodyPr/>
          <a:lstStyle/>
          <a:p>
            <a:pPr algn="l"/>
            <a:r>
              <a:rPr lang="en-US" sz="1500">
                <a:solidFill>
                  <a:srgbClr val="555555"/>
                </a:solidFill>
                <a:latin typeface="Calibri"/>
                <a:ea typeface="Calibri"/>
              </a:rPr>
              <a:t>20+ 数据库表</a:t>
            </a:r>
          </a:p>
          <a:p>
            <a:pPr algn="l"/>
            <a:r>
              <a:rPr lang="en-US" sz="1500">
                <a:solidFill>
                  <a:srgbClr val="555555"/>
                </a:solidFill>
                <a:latin typeface="Calibri"/>
                <a:ea typeface="Calibri"/>
              </a:rPr>
              <a:t>16 个内置 Agent 角色</a:t>
            </a:r>
          </a:p>
          <a:p>
            <a:pPr algn="l"/>
            <a:r>
              <a:rPr lang="en-US" sz="1500">
                <a:solidFill>
                  <a:srgbClr val="555555"/>
                </a:solidFill>
                <a:latin typeface="Calibri"/>
                <a:ea typeface="Calibri"/>
              </a:rPr>
              <a:t>3 端覆盖 (Web + 小程序 + 公众号)</a:t>
            </a:r>
          </a:p>
          <a:p>
            <a:pPr algn="l"/>
            <a:r>
              <a:rPr lang="en-US" sz="1500">
                <a:solidFill>
                  <a:srgbClr val="555555"/>
                </a:solidFill>
                <a:latin typeface="Calibri"/>
                <a:ea typeface="Calibri"/>
              </a:rPr>
              <a:t>PixiJS WebGL 办公室可视化</a:t>
            </a:r>
          </a:p>
          <a:p>
            <a:pPr algn="l"/>
            <a:r>
              <a:rPr lang="en-US" sz="1500">
                <a:solidFill>
                  <a:srgbClr val="555555"/>
                </a:solidFill>
                <a:latin typeface="Calibri"/>
                <a:ea typeface="Calibri"/>
              </a:rPr>
              <a:t>Redis pub/sub 实时通信</a:t>
            </a:r>
          </a:p>
          <a:p>
            <a:pPr algn="l"/>
            <a:r>
              <a:rPr lang="en-US" sz="1500">
                <a:solidFill>
                  <a:srgbClr val="555555"/>
                </a:solidFill>
                <a:latin typeface="Calibri"/>
                <a:ea typeface="Calibri"/>
              </a:rPr>
              <a:t>Celery 分布式任务调度</a:t>
            </a:r>
          </a:p>
        </p:txBody>
      </p:sp>
    </p:spTree>
  </p:cSld>
</p:sld>
</file>

<file path=ppt/slides/slide3.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10" name="AccentBar"/>
          <p:cNvSpPr/>
          <p:nvPr/>
        </p:nvSpPr>
        <p:spPr>
          <a:xfrm>
            <a:off x="0" y="0"/>
            <a:ext cx="144000" cy="6858000"/>
          </a:xfrm>
          <a:prstGeom prst="rect">
            <a:avLst/>
          </a:prstGeom>
          <a:solidFill>
            <a:srgbClr val="1E2761"/>
          </a:solidFill>
          <a:ln>
            <a:noFill/>
          </a:ln>
        </p:spPr>
        <p:txBody>
          <a:bodyPr/>
          <a:lstStyle/>
          <a:p/>
        </p:txBody>
      </p:sp>
      <p:sp>
        <p:nvSpPr>
          <p:cNvPr id="100011" name="Title"/>
          <p:cNvSpPr txBox="1"/>
          <p:nvPr/>
        </p:nvSpPr>
        <p:spPr>
          <a:xfrm>
            <a:off x="900000" y="432000"/>
            <a:ext cx="10080000" cy="720000"/>
          </a:xfrm>
          <a:prstGeom prst="rect">
            <a:avLst/>
          </a:prstGeom>
        </p:spPr>
        <p:txBody>
          <a:bodyPr/>
          <a:lstStyle/>
          <a:p>
            <a:pPr algn="l"/>
            <a:r>
              <a:rPr lang="en-US" sz="3600" b="1">
                <a:solidFill>
                  <a:srgbClr val="1E2761"/>
                </a:solidFill>
                <a:latin typeface="Georgia"/>
                <a:ea typeface="Georgia"/>
              </a:rPr>
              <a:t>背景与项目愿景</a:t>
            </a:r>
          </a:p>
        </p:txBody>
      </p:sp>
      <p:sp>
        <p:nvSpPr>
          <p:cNvPr id="100012" name="Card1"/>
          <p:cNvSpPr/>
          <p:nvPr/>
        </p:nvSpPr>
        <p:spPr>
          <a:xfrm>
            <a:off x="900000" y="1440000"/>
            <a:ext cx="4860000" cy="2160000"/>
          </a:xfrm>
          <a:prstGeom prst="roundRect">
            <a:avLst/>
          </a:prstGeom>
          <a:solidFill>
            <a:srgbClr val="F2F5FA"/>
          </a:solidFill>
          <a:ln>
            <a:noFill/>
          </a:ln>
        </p:spPr>
        <p:txBody>
          <a:bodyPr/>
          <a:lstStyle/>
          <a:p/>
        </p:txBody>
      </p:sp>
      <p:sp>
        <p:nvSpPr>
          <p:cNvPr id="100013" name="TextBox 4"/>
          <p:cNvSpPr txBox="1"/>
          <p:nvPr/>
        </p:nvSpPr>
        <p:spPr>
          <a:xfrm>
            <a:off x="1260000" y="1620000"/>
            <a:ext cx="3960000" cy="432000"/>
          </a:xfrm>
          <a:prstGeom prst="rect">
            <a:avLst/>
          </a:prstGeom>
        </p:spPr>
        <p:txBody>
          <a:bodyPr/>
          <a:lstStyle/>
          <a:p>
            <a:pPr algn="l"/>
            <a:r>
              <a:rPr lang="en-US" sz="2000" b="1">
                <a:solidFill>
                  <a:srgbClr val="1E2761"/>
                </a:solidFill>
                <a:latin typeface="Georgia"/>
                <a:ea typeface="Georgia"/>
              </a:rPr>
              <a:t>Problem</a:t>
            </a:r>
          </a:p>
        </p:txBody>
      </p:sp>
      <p:sp>
        <p:nvSpPr>
          <p:cNvPr id="100014" name="TextBox 5"/>
          <p:cNvSpPr txBox="1"/>
          <p:nvPr/>
        </p:nvSpPr>
        <p:spPr>
          <a:xfrm>
            <a:off x="1260000" y="2160000"/>
            <a:ext cx="3960000" cy="1260000"/>
          </a:xfrm>
          <a:prstGeom prst="rect">
            <a:avLst/>
          </a:prstGeom>
        </p:spPr>
        <p:txBody>
          <a:bodyPr/>
          <a:lstStyle/>
          <a:p>
            <a:pPr algn="l"/>
            <a:r>
              <a:rPr lang="en-US" sz="1500">
                <a:solidFill>
                  <a:srgbClr val="555555"/>
                </a:solidFill>
                <a:latin typeface="Calibri"/>
                <a:ea typeface="Calibri"/>
              </a:rPr>
              <a:t>Claude Code 功能强大但缺少统一管理平台</a:t>
            </a:r>
          </a:p>
          <a:p>
            <a:pPr algn="l"/>
            <a:r>
              <a:rPr lang="en-US" sz="1500">
                <a:solidFill>
                  <a:srgbClr val="555555"/>
                </a:solidFill>
                <a:latin typeface="Calibri"/>
                <a:ea typeface="Calibri"/>
              </a:rPr>
              <a:t>多个子 Agent 难以协调和监控</a:t>
            </a:r>
          </a:p>
          <a:p>
            <a:pPr algn="l"/>
            <a:r>
              <a:rPr lang="en-US" sz="1500">
                <a:solidFill>
                  <a:srgbClr val="555555"/>
                </a:solidFill>
                <a:latin typeface="Calibri"/>
                <a:ea typeface="Calibri"/>
              </a:rPr>
              <a:t>文件编辑、终端操作分散在不同界面</a:t>
            </a:r>
          </a:p>
          <a:p>
            <a:pPr algn="l"/>
            <a:r>
              <a:rPr lang="en-US" sz="1500">
                <a:solidFill>
                  <a:srgbClr val="555555"/>
                </a:solidFill>
                <a:latin typeface="Calibri"/>
                <a:ea typeface="Calibri"/>
              </a:rPr>
              <a:t>无法在移动端查看和管理 Agent 状态</a:t>
            </a:r>
          </a:p>
        </p:txBody>
      </p:sp>
      <p:sp>
        <p:nvSpPr>
          <p:cNvPr id="100015" name="Card2"/>
          <p:cNvSpPr/>
          <p:nvPr/>
        </p:nvSpPr>
        <p:spPr>
          <a:xfrm>
            <a:off x="6300000" y="1440000"/>
            <a:ext cx="4860000" cy="2160000"/>
          </a:xfrm>
          <a:prstGeom prst="roundRect">
            <a:avLst/>
          </a:prstGeom>
          <a:solidFill>
            <a:srgbClr val="1E2761"/>
          </a:solidFill>
          <a:ln>
            <a:noFill/>
          </a:ln>
        </p:spPr>
        <p:txBody>
          <a:bodyPr/>
          <a:lstStyle/>
          <a:p/>
        </p:txBody>
      </p:sp>
      <p:sp>
        <p:nvSpPr>
          <p:cNvPr id="100016" name="TextBox 7"/>
          <p:cNvSpPr txBox="1"/>
          <p:nvPr/>
        </p:nvSpPr>
        <p:spPr>
          <a:xfrm>
            <a:off x="6660000" y="1620000"/>
            <a:ext cx="3960000" cy="432000"/>
          </a:xfrm>
          <a:prstGeom prst="rect">
            <a:avLst/>
          </a:prstGeom>
        </p:spPr>
        <p:txBody>
          <a:bodyPr/>
          <a:lstStyle/>
          <a:p>
            <a:pPr algn="l"/>
            <a:r>
              <a:rPr lang="en-US" sz="2000" b="1">
                <a:solidFill>
                  <a:srgbClr val="FFFFFF"/>
                </a:solidFill>
                <a:latin typeface="Georgia"/>
                <a:ea typeface="Georgia"/>
              </a:rPr>
              <a:t>Solution</a:t>
            </a:r>
          </a:p>
        </p:txBody>
      </p:sp>
      <p:sp>
        <p:nvSpPr>
          <p:cNvPr id="100017" name="TextBox 8"/>
          <p:cNvSpPr txBox="1"/>
          <p:nvPr/>
        </p:nvSpPr>
        <p:spPr>
          <a:xfrm>
            <a:off x="6660000" y="2160000"/>
            <a:ext cx="3960000" cy="1260000"/>
          </a:xfrm>
          <a:prstGeom prst="rect">
            <a:avLst/>
          </a:prstGeom>
        </p:spPr>
        <p:txBody>
          <a:bodyPr/>
          <a:lstStyle/>
          <a:p>
            <a:pPr algn="l"/>
            <a:r>
              <a:rPr lang="en-US" sz="1500">
                <a:solidFill>
                  <a:srgbClr val="CADCFC"/>
                </a:solidFill>
                <a:latin typeface="Calibri"/>
                <a:ea typeface="Calibri"/>
              </a:rPr>
              <a:t>可视化中控台统一管理所有 Agent</a:t>
            </a:r>
          </a:p>
          <a:p>
            <a:pPr algn="l"/>
            <a:r>
              <a:rPr lang="en-US" sz="1500">
                <a:solidFill>
                  <a:srgbClr val="CADCFC"/>
                </a:solidFill>
                <a:latin typeface="Calibri"/>
                <a:ea typeface="Calibri"/>
              </a:rPr>
              <a:t>办公室场景拟人化展示运行状态</a:t>
            </a:r>
          </a:p>
          <a:p>
            <a:pPr algn="l"/>
            <a:r>
              <a:rPr lang="en-US" sz="1500">
                <a:solidFill>
                  <a:srgbClr val="CADCFC"/>
                </a:solidFill>
                <a:latin typeface="Calibri"/>
                <a:ea typeface="Calibri"/>
              </a:rPr>
              <a:t>WebSocket 实时推送 + 微信移动端</a:t>
            </a:r>
          </a:p>
          <a:p>
            <a:pPr algn="l"/>
            <a:r>
              <a:rPr lang="en-US" sz="1500">
                <a:solidFill>
                  <a:srgbClr val="CADCFC"/>
                </a:solidFill>
                <a:latin typeface="Calibri"/>
                <a:ea typeface="Calibri"/>
              </a:rPr>
              <a:t>全生命周期管理：创建→运行→监控→归档</a:t>
            </a:r>
          </a:p>
        </p:txBody>
      </p:sp>
      <p:sp>
        <p:nvSpPr>
          <p:cNvPr id="100018" name="TextBox 9"/>
          <p:cNvSpPr txBox="1"/>
          <p:nvPr/>
        </p:nvSpPr>
        <p:spPr>
          <a:xfrm>
            <a:off x="900000" y="4140000"/>
            <a:ext cx="10080000" cy="432000"/>
          </a:xfrm>
          <a:prstGeom prst="rect">
            <a:avLst/>
          </a:prstGeom>
        </p:spPr>
        <p:txBody>
          <a:bodyPr/>
          <a:lstStyle/>
          <a:p>
            <a:pPr algn="l"/>
            <a:r>
              <a:rPr lang="en-US" sz="2000" b="1">
                <a:solidFill>
                  <a:srgbClr val="1E2761"/>
                </a:solidFill>
                <a:latin typeface="Georgia"/>
                <a:ea typeface="Georgia"/>
              </a:rPr>
              <a:t>Vision</a:t>
            </a:r>
          </a:p>
        </p:txBody>
      </p:sp>
      <p:sp>
        <p:nvSpPr>
          <p:cNvPr id="100019" name="TextBox 10"/>
          <p:cNvSpPr txBox="1"/>
          <p:nvPr/>
        </p:nvSpPr>
        <p:spPr>
          <a:xfrm>
            <a:off x="900000" y="4680000"/>
            <a:ext cx="10080000" cy="900000"/>
          </a:xfrm>
          <a:prstGeom prst="rect">
            <a:avLst/>
          </a:prstGeom>
        </p:spPr>
        <p:txBody>
          <a:bodyPr/>
          <a:lstStyle/>
          <a:p>
            <a:pPr algn="l"/>
            <a:r>
              <a:rPr lang="en-US" sz="1600">
                <a:solidFill>
                  <a:srgbClr val="555555"/>
                </a:solidFill>
                <a:latin typeface="Calibri"/>
                <a:ea typeface="Calibri"/>
              </a:rPr>
              <a:t>打造 AI 时代的 Agent 指挥中心 — 让开发者像管理团队一样管理 AI 子 Agent，实现高效、透明、可扩展的智能协作</a:t>
            </a:r>
          </a:p>
        </p:txBody>
      </p:sp>
    </p:spTree>
  </p:cSld>
</p:sld>
</file>

<file path=ppt/slides/slide4.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20" name="AccentBar"/>
          <p:cNvSpPr/>
          <p:nvPr/>
        </p:nvSpPr>
        <p:spPr>
          <a:xfrm>
            <a:off x="0" y="0"/>
            <a:ext cx="144000" cy="6858000"/>
          </a:xfrm>
          <a:prstGeom prst="rect">
            <a:avLst/>
          </a:prstGeom>
          <a:solidFill>
            <a:srgbClr val="1E2761"/>
          </a:solidFill>
          <a:ln>
            <a:noFill/>
          </a:ln>
        </p:spPr>
        <p:txBody>
          <a:bodyPr/>
          <a:lstStyle/>
          <a:p/>
        </p:txBody>
      </p:sp>
      <p:sp>
        <p:nvSpPr>
          <p:cNvPr id="100021" name="Title"/>
          <p:cNvSpPr txBox="1"/>
          <p:nvPr/>
        </p:nvSpPr>
        <p:spPr>
          <a:xfrm>
            <a:off x="900000" y="432000"/>
            <a:ext cx="10080000" cy="720000"/>
          </a:xfrm>
          <a:prstGeom prst="rect">
            <a:avLst/>
          </a:prstGeom>
        </p:spPr>
        <p:txBody>
          <a:bodyPr/>
          <a:lstStyle/>
          <a:p>
            <a:pPr algn="l"/>
            <a:r>
              <a:rPr lang="en-US" sz="3600" b="1">
                <a:solidFill>
                  <a:srgbClr val="1E2761"/>
                </a:solidFill>
                <a:latin typeface="Georgia"/>
                <a:ea typeface="Georgia"/>
              </a:rPr>
              <a:t>技术栈总览</a:t>
            </a:r>
          </a:p>
        </p:txBody>
      </p:sp>
      <p:sp>
        <p:nvSpPr>
          <p:cNvPr id="100022" name="BECard"/>
          <p:cNvSpPr/>
          <p:nvPr/>
        </p:nvSpPr>
        <p:spPr>
          <a:xfrm>
            <a:off x="900000" y="1440000"/>
            <a:ext cx="3240000" cy="4680000"/>
          </a:xfrm>
          <a:prstGeom prst="roundRect">
            <a:avLst/>
          </a:prstGeom>
          <a:solidFill>
            <a:srgbClr val="F2F5FA"/>
          </a:solidFill>
          <a:ln>
            <a:noFill/>
          </a:ln>
        </p:spPr>
        <p:txBody>
          <a:bodyPr/>
          <a:lstStyle/>
          <a:p/>
        </p:txBody>
      </p:sp>
      <p:sp>
        <p:nvSpPr>
          <p:cNvPr id="100023" name="TextBox 4"/>
          <p:cNvSpPr txBox="1"/>
          <p:nvPr/>
        </p:nvSpPr>
        <p:spPr>
          <a:xfrm>
            <a:off x="1188000" y="1620000"/>
            <a:ext cx="2700000" cy="432000"/>
          </a:xfrm>
          <a:prstGeom prst="rect">
            <a:avLst/>
          </a:prstGeom>
        </p:spPr>
        <p:txBody>
          <a:bodyPr/>
          <a:lstStyle/>
          <a:p>
            <a:pPr algn="l"/>
            <a:r>
              <a:rPr lang="en-US" sz="2000" b="1">
                <a:solidFill>
                  <a:srgbClr val="1E2761"/>
                </a:solidFill>
                <a:latin typeface="Georgia"/>
                <a:ea typeface="Georgia"/>
              </a:rPr>
              <a:t>Backend</a:t>
            </a:r>
          </a:p>
        </p:txBody>
      </p:sp>
      <p:sp>
        <p:nvSpPr>
          <p:cNvPr id="100024" name="TextBox 5"/>
          <p:cNvSpPr txBox="1"/>
          <p:nvPr/>
        </p:nvSpPr>
        <p:spPr>
          <a:xfrm>
            <a:off x="1188000" y="2160000"/>
            <a:ext cx="2700000" cy="3600000"/>
          </a:xfrm>
          <a:prstGeom prst="rect">
            <a:avLst/>
          </a:prstGeom>
        </p:spPr>
        <p:txBody>
          <a:bodyPr/>
          <a:lstStyle/>
          <a:p>
            <a:pPr algn="l"/>
            <a:r>
              <a:rPr lang="en-US" sz="1400">
                <a:solidFill>
                  <a:srgbClr val="555555"/>
                </a:solidFill>
                <a:latin typeface="Calibri"/>
                <a:ea typeface="Calibri"/>
              </a:rPr>
              <a:t>FastAPI + uvicorn</a:t>
            </a:r>
          </a:p>
          <a:p>
            <a:pPr algn="l"/>
            <a:r>
              <a:rPr lang="en-US" sz="1400">
                <a:solidFill>
                  <a:srgbClr val="555555"/>
                </a:solidFill>
                <a:latin typeface="Calibri"/>
                <a:ea typeface="Calibri"/>
              </a:rPr>
              <a:t>SQLAlchemy 2.0 + asyncpg</a:t>
            </a:r>
          </a:p>
          <a:p>
            <a:pPr algn="l"/>
            <a:r>
              <a:rPr lang="en-US" sz="1400">
                <a:solidFill>
                  <a:srgbClr val="555555"/>
                </a:solidFill>
                <a:latin typeface="Calibri"/>
                <a:ea typeface="Calibri"/>
              </a:rPr>
              <a:t>PostgreSQL 16</a:t>
            </a:r>
          </a:p>
          <a:p>
            <a:pPr algn="l"/>
            <a:r>
              <a:rPr lang="en-US" sz="1400">
                <a:solidFill>
                  <a:srgbClr val="555555"/>
                </a:solidFill>
                <a:latin typeface="Calibri"/>
                <a:ea typeface="Calibri"/>
              </a:rPr>
              <a:t>Redis 7 (pub/sub + cache)</a:t>
            </a:r>
          </a:p>
          <a:p>
            <a:pPr algn="l"/>
            <a:r>
              <a:rPr lang="en-US" sz="1400">
                <a:solidFill>
                  <a:srgbClr val="555555"/>
                </a:solidFill>
                <a:latin typeface="Calibri"/>
                <a:ea typeface="Calibri"/>
              </a:rPr>
              <a:t>Celery + celery-beat</a:t>
            </a:r>
          </a:p>
          <a:p>
            <a:pPr algn="l"/>
            <a:r>
              <a:rPr lang="en-US" sz="1400">
                <a:solidFill>
                  <a:srgbClr val="555555"/>
                </a:solidFill>
                <a:latin typeface="Calibri"/>
                <a:ea typeface="Calibri"/>
              </a:rPr>
              <a:t>JWT + bcrypt 认证</a:t>
            </a:r>
          </a:p>
          <a:p>
            <a:pPr algn="l"/>
            <a:r>
              <a:rPr lang="en-US" sz="1400">
                <a:solidFill>
                  <a:srgbClr val="555555"/>
                </a:solidFill>
                <a:latin typeface="Calibri"/>
                <a:ea typeface="Calibri"/>
              </a:rPr>
              <a:t>Anthropic SDK</a:t>
            </a:r>
          </a:p>
          <a:p>
            <a:pPr algn="l"/>
            <a:r>
              <a:rPr lang="en-US" sz="1400">
                <a:solidFill>
                  <a:srgbClr val="555555"/>
                </a:solidFill>
                <a:latin typeface="Calibri"/>
                <a:ea typeface="Calibri"/>
              </a:rPr>
              <a:t>psutil 系统监控</a:t>
            </a:r>
          </a:p>
        </p:txBody>
      </p:sp>
      <p:sp>
        <p:nvSpPr>
          <p:cNvPr id="100025" name="FECard"/>
          <p:cNvSpPr/>
          <p:nvPr/>
        </p:nvSpPr>
        <p:spPr>
          <a:xfrm>
            <a:off x="4428000" y="1440000"/>
            <a:ext cx="3240000" cy="4680000"/>
          </a:xfrm>
          <a:prstGeom prst="roundRect">
            <a:avLst/>
          </a:prstGeom>
          <a:solidFill>
            <a:srgbClr val="F2F5FA"/>
          </a:solidFill>
          <a:ln>
            <a:noFill/>
          </a:ln>
        </p:spPr>
        <p:txBody>
          <a:bodyPr/>
          <a:lstStyle/>
          <a:p/>
        </p:txBody>
      </p:sp>
      <p:sp>
        <p:nvSpPr>
          <p:cNvPr id="100026" name="TextBox 7"/>
          <p:cNvSpPr txBox="1"/>
          <p:nvPr/>
        </p:nvSpPr>
        <p:spPr>
          <a:xfrm>
            <a:off x="4716000" y="1620000"/>
            <a:ext cx="2700000" cy="432000"/>
          </a:xfrm>
          <a:prstGeom prst="rect">
            <a:avLst/>
          </a:prstGeom>
        </p:spPr>
        <p:txBody>
          <a:bodyPr/>
          <a:lstStyle/>
          <a:p>
            <a:pPr algn="l"/>
            <a:r>
              <a:rPr lang="en-US" sz="2000" b="1">
                <a:solidFill>
                  <a:srgbClr val="1E2761"/>
                </a:solidFill>
                <a:latin typeface="Georgia"/>
                <a:ea typeface="Georgia"/>
              </a:rPr>
              <a:t>Frontend (Web)</a:t>
            </a:r>
          </a:p>
        </p:txBody>
      </p:sp>
      <p:sp>
        <p:nvSpPr>
          <p:cNvPr id="100027" name="TextBox 8"/>
          <p:cNvSpPr txBox="1"/>
          <p:nvPr/>
        </p:nvSpPr>
        <p:spPr>
          <a:xfrm>
            <a:off x="4716000" y="2160000"/>
            <a:ext cx="2700000" cy="3600000"/>
          </a:xfrm>
          <a:prstGeom prst="rect">
            <a:avLst/>
          </a:prstGeom>
        </p:spPr>
        <p:txBody>
          <a:bodyPr/>
          <a:lstStyle/>
          <a:p>
            <a:pPr algn="l"/>
            <a:r>
              <a:rPr lang="en-US" sz="1400">
                <a:solidFill>
                  <a:srgbClr val="555555"/>
                </a:solidFill>
                <a:latin typeface="Calibri"/>
                <a:ea typeface="Calibri"/>
              </a:rPr>
              <a:t>React 18 + TypeScript</a:t>
            </a:r>
          </a:p>
          <a:p>
            <a:pPr algn="l"/>
            <a:r>
              <a:rPr lang="en-US" sz="1400">
                <a:solidFill>
                  <a:srgbClr val="555555"/>
                </a:solidFill>
                <a:latin typeface="Calibri"/>
                <a:ea typeface="Calibri"/>
              </a:rPr>
              <a:t>Vite 构建工具</a:t>
            </a:r>
          </a:p>
          <a:p>
            <a:pPr algn="l"/>
            <a:r>
              <a:rPr lang="en-US" sz="1400">
                <a:solidFill>
                  <a:srgbClr val="555555"/>
                </a:solidFill>
                <a:latin typeface="Calibri"/>
                <a:ea typeface="Calibri"/>
              </a:rPr>
              <a:t>Tailwind CSS</a:t>
            </a:r>
          </a:p>
          <a:p>
            <a:pPr algn="l"/>
            <a:r>
              <a:rPr lang="en-US" sz="1400">
                <a:solidFill>
                  <a:srgbClr val="555555"/>
                </a:solidFill>
                <a:latin typeface="Calibri"/>
                <a:ea typeface="Calibri"/>
              </a:rPr>
              <a:t>PixiJS 8 (WebGL 2D)</a:t>
            </a:r>
          </a:p>
          <a:p>
            <a:pPr algn="l"/>
            <a:r>
              <a:rPr lang="en-US" sz="1400">
                <a:solidFill>
                  <a:srgbClr val="555555"/>
                </a:solidFill>
                <a:latin typeface="Calibri"/>
                <a:ea typeface="Calibri"/>
              </a:rPr>
              <a:t>Recharts + D3.js</a:t>
            </a:r>
          </a:p>
          <a:p>
            <a:pPr algn="l"/>
            <a:r>
              <a:rPr lang="en-US" sz="1400">
                <a:solidFill>
                  <a:srgbClr val="555555"/>
                </a:solidFill>
                <a:latin typeface="Calibri"/>
                <a:ea typeface="Calibri"/>
              </a:rPr>
              <a:t>Zustand 状态管理</a:t>
            </a:r>
          </a:p>
          <a:p>
            <a:pPr algn="l"/>
            <a:r>
              <a:rPr lang="en-US" sz="1400">
                <a:solidFill>
                  <a:srgbClr val="555555"/>
                </a:solidFill>
                <a:latin typeface="Calibri"/>
                <a:ea typeface="Calibri"/>
              </a:rPr>
              <a:t>xterm.js 终端</a:t>
            </a:r>
          </a:p>
          <a:p>
            <a:pPr algn="l"/>
            <a:r>
              <a:rPr lang="en-US" sz="1400">
                <a:solidFill>
                  <a:srgbClr val="555555"/>
                </a:solidFill>
                <a:latin typeface="Calibri"/>
                <a:ea typeface="Calibri"/>
              </a:rPr>
              <a:t>Monaco Editor</a:t>
            </a:r>
          </a:p>
        </p:txBody>
      </p:sp>
      <p:sp>
        <p:nvSpPr>
          <p:cNvPr id="100028" name="WXCard"/>
          <p:cNvSpPr/>
          <p:nvPr/>
        </p:nvSpPr>
        <p:spPr>
          <a:xfrm>
            <a:off x="7956000" y="1440000"/>
            <a:ext cx="3240000" cy="4680000"/>
          </a:xfrm>
          <a:prstGeom prst="roundRect">
            <a:avLst/>
          </a:prstGeom>
          <a:solidFill>
            <a:srgbClr val="F2F5FA"/>
          </a:solidFill>
          <a:ln>
            <a:noFill/>
          </a:ln>
        </p:spPr>
        <p:txBody>
          <a:bodyPr/>
          <a:lstStyle/>
          <a:p/>
        </p:txBody>
      </p:sp>
      <p:sp>
        <p:nvSpPr>
          <p:cNvPr id="100029" name="TextBox 10"/>
          <p:cNvSpPr txBox="1"/>
          <p:nvPr/>
        </p:nvSpPr>
        <p:spPr>
          <a:xfrm>
            <a:off x="8244000" y="1620000"/>
            <a:ext cx="2700000" cy="432000"/>
          </a:xfrm>
          <a:prstGeom prst="rect">
            <a:avLst/>
          </a:prstGeom>
        </p:spPr>
        <p:txBody>
          <a:bodyPr/>
          <a:lstStyle/>
          <a:p>
            <a:pPr algn="l"/>
            <a:r>
              <a:rPr lang="en-US" sz="2000" b="1">
                <a:solidFill>
                  <a:srgbClr val="1E2761"/>
                </a:solidFill>
                <a:latin typeface="Georgia"/>
                <a:ea typeface="Georgia"/>
              </a:rPr>
              <a:t>Mobile (微信)</a:t>
            </a:r>
          </a:p>
        </p:txBody>
      </p:sp>
      <p:sp>
        <p:nvSpPr>
          <p:cNvPr id="100030" name="TextBox 11"/>
          <p:cNvSpPr txBox="1"/>
          <p:nvPr/>
        </p:nvSpPr>
        <p:spPr>
          <a:xfrm>
            <a:off x="8244000" y="2160000"/>
            <a:ext cx="2700000" cy="3600000"/>
          </a:xfrm>
          <a:prstGeom prst="rect">
            <a:avLst/>
          </a:prstGeom>
        </p:spPr>
        <p:txBody>
          <a:bodyPr/>
          <a:lstStyle/>
          <a:p>
            <a:pPr algn="l"/>
            <a:r>
              <a:rPr lang="en-US" sz="1400">
                <a:solidFill>
                  <a:srgbClr val="555555"/>
                </a:solidFill>
                <a:latin typeface="Calibri"/>
                <a:ea typeface="Calibri"/>
              </a:rPr>
              <a:t>Taro 4.x (React)</a:t>
            </a:r>
          </a:p>
          <a:p>
            <a:pPr algn="l"/>
            <a:r>
              <a:rPr lang="en-US" sz="1400">
                <a:solidFill>
                  <a:srgbClr val="555555"/>
                </a:solidFill>
                <a:latin typeface="Calibri"/>
                <a:ea typeface="Calibri"/>
              </a:rPr>
              <a:t>Taro UI + NutUI</a:t>
            </a:r>
          </a:p>
          <a:p>
            <a:pPr algn="l"/>
            <a:r>
              <a:rPr lang="en-US" sz="1400">
                <a:solidFill>
                  <a:srgbClr val="555555"/>
                </a:solidFill>
                <a:latin typeface="Calibri"/>
                <a:ea typeface="Calibri"/>
              </a:rPr>
              <a:t>ECharts for Taro</a:t>
            </a:r>
          </a:p>
          <a:p>
            <a:pPr algn="l"/>
            <a:r>
              <a:rPr lang="en-US" sz="1400">
                <a:solidFill>
                  <a:srgbClr val="555555"/>
                </a:solidFill>
                <a:latin typeface="Calibri"/>
                <a:ea typeface="Calibri"/>
              </a:rPr>
              <a:t>Zustand (跨端共享)</a:t>
            </a:r>
          </a:p>
          <a:p>
            <a:pPr algn="l"/>
            <a:r>
              <a:rPr lang="en-US" sz="1400">
                <a:solidFill>
                  <a:srgbClr val="555555"/>
                </a:solidFill>
                <a:latin typeface="Calibri"/>
                <a:ea typeface="Calibri"/>
              </a:rPr>
              <a:t>werobot (公众号)</a:t>
            </a:r>
          </a:p>
          <a:p>
            <a:pPr algn="l"/>
            <a:r>
              <a:rPr lang="en-US" sz="1400">
                <a:solidFill>
                  <a:srgbClr val="555555"/>
                </a:solidFill>
                <a:latin typeface="Calibri"/>
                <a:ea typeface="Calibri"/>
              </a:rPr>
              <a:t>模板消息 + 客服消息</a:t>
            </a:r>
          </a:p>
          <a:p>
            <a:pPr algn="l"/>
            <a:r>
              <a:rPr lang="en-US" sz="1400">
                <a:solidFill>
                  <a:srgbClr val="555555"/>
                </a:solidFill>
                <a:latin typeface="Calibri"/>
                <a:ea typeface="Calibri"/>
              </a:rPr>
              <a:t>小程序 WebSocket</a:t>
            </a:r>
          </a:p>
        </p:txBody>
      </p:sp>
    </p:spTree>
  </p:cSld>
</p:sld>
</file>

<file path=ppt/slides/slide5.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31" name="AccentBar"/>
          <p:cNvSpPr/>
          <p:nvPr/>
        </p:nvSpPr>
        <p:spPr>
          <a:xfrm>
            <a:off x="0" y="0"/>
            <a:ext cx="144000" cy="6858000"/>
          </a:xfrm>
          <a:prstGeom prst="rect">
            <a:avLst/>
          </a:prstGeom>
          <a:solidFill>
            <a:srgbClr val="1E2761"/>
          </a:solidFill>
          <a:ln>
            <a:noFill/>
          </a:ln>
        </p:spPr>
        <p:txBody>
          <a:bodyPr/>
          <a:lstStyle/>
          <a:p/>
        </p:txBody>
      </p:sp>
      <p:sp>
        <p:nvSpPr>
          <p:cNvPr id="100032" name="Title"/>
          <p:cNvSpPr txBox="1"/>
          <p:nvPr/>
        </p:nvSpPr>
        <p:spPr>
          <a:xfrm>
            <a:off x="900000" y="288000"/>
            <a:ext cx="10080000" cy="576000"/>
          </a:xfrm>
          <a:prstGeom prst="rect">
            <a:avLst/>
          </a:prstGeom>
        </p:spPr>
        <p:txBody>
          <a:bodyPr/>
          <a:lstStyle/>
          <a:p>
            <a:pPr algn="l"/>
            <a:r>
              <a:rPr lang="en-US" sz="3600" b="1">
                <a:solidFill>
                  <a:srgbClr val="1E2761"/>
                </a:solidFill>
                <a:latin typeface="Georgia"/>
                <a:ea typeface="Georgia"/>
              </a:rPr>
              <a:t>系统架构设计</a:t>
            </a:r>
          </a:p>
        </p:txBody>
      </p:sp>
      <p:sp>
        <p:nvSpPr>
          <p:cNvPr id="100033" name="ClientLayer"/>
          <p:cNvSpPr/>
          <p:nvPr/>
        </p:nvSpPr>
        <p:spPr>
          <a:xfrm>
            <a:off x="900000" y="1080000"/>
            <a:ext cx="10080000" cy="900000"/>
          </a:xfrm>
          <a:prstGeom prst="roundRect">
            <a:avLst/>
          </a:prstGeom>
          <a:solidFill>
            <a:srgbClr val="1E2761"/>
          </a:solidFill>
          <a:ln>
            <a:noFill/>
          </a:ln>
        </p:spPr>
        <p:txBody>
          <a:bodyPr/>
          <a:lstStyle/>
          <a:p/>
        </p:txBody>
      </p:sp>
      <p:sp>
        <p:nvSpPr>
          <p:cNvPr id="100034" name="TextBox 4"/>
          <p:cNvSpPr txBox="1"/>
          <p:nvPr/>
        </p:nvSpPr>
        <p:spPr>
          <a:xfrm>
            <a:off x="1080000" y="1188000"/>
            <a:ext cx="2880000" cy="360000"/>
          </a:xfrm>
          <a:prstGeom prst="rect">
            <a:avLst/>
          </a:prstGeom>
        </p:spPr>
        <p:txBody>
          <a:bodyPr/>
          <a:lstStyle/>
          <a:p>
            <a:pPr algn="l"/>
            <a:r>
              <a:rPr lang="en-US" sz="1400" b="1">
                <a:solidFill>
                  <a:srgbClr val="CADCFC"/>
                </a:solidFill>
                <a:latin typeface="Georgia"/>
                <a:ea typeface="Georgia"/>
              </a:rPr>
              <a:t>Client Layer  </a:t>
            </a:r>
          </a:p>
        </p:txBody>
      </p:sp>
      <p:sp>
        <p:nvSpPr>
          <p:cNvPr id="100035" name="TextBox 5"/>
          <p:cNvSpPr txBox="1"/>
          <p:nvPr/>
        </p:nvSpPr>
        <p:spPr>
          <a:xfrm>
            <a:off x="1080000" y="1368000"/>
            <a:ext cx="9720000" cy="432000"/>
          </a:xfrm>
          <a:prstGeom prst="rect">
            <a:avLst/>
          </a:prstGeom>
        </p:spPr>
        <p:txBody>
          <a:bodyPr/>
          <a:lstStyle/>
          <a:p>
            <a:pPr algn="l"/>
            <a:r>
              <a:rPr lang="en-US" sz="1400">
                <a:solidFill>
                  <a:srgbClr val="FFFFFF"/>
                </a:solidFill>
                <a:latin typeface="Calibri"/>
                <a:ea typeface="Calibri"/>
              </a:rPr>
              <a:t>React Web App  |  WeChat Mini-Program (Taro)  |  WeChat Official Account</a:t>
            </a:r>
          </a:p>
        </p:txBody>
      </p:sp>
      <p:sp>
        <p:nvSpPr>
          <p:cNvPr id="100036" name="APILayer"/>
          <p:cNvSpPr/>
          <p:nvPr/>
        </p:nvSpPr>
        <p:spPr>
          <a:xfrm>
            <a:off x="900000" y="2232000"/>
            <a:ext cx="10080000" cy="900000"/>
          </a:xfrm>
          <a:prstGeom prst="roundRect">
            <a:avLst/>
          </a:prstGeom>
          <a:solidFill>
            <a:srgbClr val="065A82"/>
          </a:solidFill>
          <a:ln>
            <a:noFill/>
          </a:ln>
        </p:spPr>
        <p:txBody>
          <a:bodyPr/>
          <a:lstStyle/>
          <a:p/>
        </p:txBody>
      </p:sp>
      <p:sp>
        <p:nvSpPr>
          <p:cNvPr id="100037" name="TextBox 7"/>
          <p:cNvSpPr txBox="1"/>
          <p:nvPr/>
        </p:nvSpPr>
        <p:spPr>
          <a:xfrm>
            <a:off x="1080000" y="2340000"/>
            <a:ext cx="2880000" cy="360000"/>
          </a:xfrm>
          <a:prstGeom prst="rect">
            <a:avLst/>
          </a:prstGeom>
        </p:spPr>
        <p:txBody>
          <a:bodyPr/>
          <a:lstStyle/>
          <a:p>
            <a:pPr algn="l"/>
            <a:r>
              <a:rPr lang="en-US" sz="1400" b="1">
                <a:solidFill>
                  <a:srgbClr val="CADCFC"/>
                </a:solidFill>
                <a:latin typeface="Georgia"/>
                <a:ea typeface="Georgia"/>
              </a:rPr>
              <a:t>API Gateway  </a:t>
            </a:r>
          </a:p>
        </p:txBody>
      </p:sp>
      <p:sp>
        <p:nvSpPr>
          <p:cNvPr id="100038" name="TextBox 8"/>
          <p:cNvSpPr txBox="1"/>
          <p:nvPr/>
        </p:nvSpPr>
        <p:spPr>
          <a:xfrm>
            <a:off x="1080000" y="2520000"/>
            <a:ext cx="9720000" cy="432000"/>
          </a:xfrm>
          <a:prstGeom prst="rect">
            <a:avLst/>
          </a:prstGeom>
        </p:spPr>
        <p:txBody>
          <a:bodyPr/>
          <a:lstStyle/>
          <a:p>
            <a:pPr algn="l"/>
            <a:r>
              <a:rPr lang="en-US" sz="1400">
                <a:solidFill>
                  <a:srgbClr val="FFFFFF"/>
                </a:solidFill>
                <a:latin typeface="Calibri"/>
                <a:ea typeface="Calibri"/>
              </a:rPr>
              <a:t>FastAPI REST  |  WebSocket (ws://)  |  JWT Auth  |  CORS + Rate Limit  |  WeChat Callback</a:t>
            </a:r>
          </a:p>
        </p:txBody>
      </p:sp>
      <p:sp>
        <p:nvSpPr>
          <p:cNvPr id="100039" name="ServiceLayer"/>
          <p:cNvSpPr/>
          <p:nvPr/>
        </p:nvSpPr>
        <p:spPr>
          <a:xfrm>
            <a:off x="900000" y="3384000"/>
            <a:ext cx="10080000" cy="1152000"/>
          </a:xfrm>
          <a:prstGeom prst="roundRect">
            <a:avLst/>
          </a:prstGeom>
          <a:solidFill>
            <a:srgbClr val="1C7293"/>
          </a:solidFill>
          <a:ln>
            <a:noFill/>
          </a:ln>
        </p:spPr>
        <p:txBody>
          <a:bodyPr/>
          <a:lstStyle/>
          <a:p/>
        </p:txBody>
      </p:sp>
      <p:sp>
        <p:nvSpPr>
          <p:cNvPr id="100040" name="TextBox 10"/>
          <p:cNvSpPr txBox="1"/>
          <p:nvPr/>
        </p:nvSpPr>
        <p:spPr>
          <a:xfrm>
            <a:off x="1080000" y="3492000"/>
            <a:ext cx="2880000" cy="360000"/>
          </a:xfrm>
          <a:prstGeom prst="rect">
            <a:avLst/>
          </a:prstGeom>
        </p:spPr>
        <p:txBody>
          <a:bodyPr/>
          <a:lstStyle/>
          <a:p>
            <a:pPr algn="l"/>
            <a:r>
              <a:rPr lang="en-US" sz="1400" b="1">
                <a:solidFill>
                  <a:srgbClr val="CADCFC"/>
                </a:solidFill>
                <a:latin typeface="Georgia"/>
                <a:ea typeface="Georgia"/>
              </a:rPr>
              <a:t>Service Layer  </a:t>
            </a:r>
          </a:p>
        </p:txBody>
      </p:sp>
      <p:sp>
        <p:nvSpPr>
          <p:cNvPr id="100041" name="TextBox 11"/>
          <p:cNvSpPr txBox="1"/>
          <p:nvPr/>
        </p:nvSpPr>
        <p:spPr>
          <a:xfrm>
            <a:off x="1080000" y="3780000"/>
            <a:ext cx="9720000" cy="648000"/>
          </a:xfrm>
          <a:prstGeom prst="rect">
            <a:avLst/>
          </a:prstGeom>
        </p:spPr>
        <p:txBody>
          <a:bodyPr/>
          <a:lstStyle/>
          <a:p>
            <a:pPr algn="l"/>
            <a:r>
              <a:rPr lang="en-US" sz="1300">
                <a:solidFill>
                  <a:srgbClr val="FFFFFF"/>
                </a:solidFill>
                <a:latin typeface="Calibri"/>
                <a:ea typeface="Calibri"/>
              </a:rPr>
              <a:t>Agent Orchestrator  |  Project Service  |  File Service  |  Terminal Manager  |  Metrics Collector</a:t>
            </a:r>
          </a:p>
          <a:p>
            <a:pPr algn="l"/>
            <a:r>
              <a:rPr lang="en-US" sz="1300">
                <a:solidFill>
                  <a:srgbClr val="FFFFFF"/>
                </a:solidFill>
                <a:latin typeface="Calibri"/>
                <a:ea typeface="Calibri"/>
              </a:rPr>
              <a:t>WeChat Service (Login / Push / Message / Command)  |  Notification Service  |  Cron Scheduler</a:t>
            </a:r>
          </a:p>
        </p:txBody>
      </p:sp>
      <p:sp>
        <p:nvSpPr>
          <p:cNvPr id="100042" name="DataLayer"/>
          <p:cNvSpPr/>
          <p:nvPr/>
        </p:nvSpPr>
        <p:spPr>
          <a:xfrm>
            <a:off x="900000" y="4788000"/>
            <a:ext cx="10080000" cy="900000"/>
          </a:xfrm>
          <a:prstGeom prst="roundRect">
            <a:avLst/>
          </a:prstGeom>
          <a:solidFill>
            <a:srgbClr val="21295C"/>
          </a:solidFill>
          <a:ln>
            <a:noFill/>
          </a:ln>
        </p:spPr>
        <p:txBody>
          <a:bodyPr/>
          <a:lstStyle/>
          <a:p/>
        </p:txBody>
      </p:sp>
      <p:sp>
        <p:nvSpPr>
          <p:cNvPr id="100043" name="TextBox 13"/>
          <p:cNvSpPr txBox="1"/>
          <p:nvPr/>
        </p:nvSpPr>
        <p:spPr>
          <a:xfrm>
            <a:off x="1080000" y="4896000"/>
            <a:ext cx="2880000" cy="360000"/>
          </a:xfrm>
          <a:prstGeom prst="rect">
            <a:avLst/>
          </a:prstGeom>
        </p:spPr>
        <p:txBody>
          <a:bodyPr/>
          <a:lstStyle/>
          <a:p>
            <a:pPr algn="l"/>
            <a:r>
              <a:rPr lang="en-US" sz="1400" b="1">
                <a:solidFill>
                  <a:srgbClr val="CADCFC"/>
                </a:solidFill>
                <a:latin typeface="Georgia"/>
                <a:ea typeface="Georgia"/>
              </a:rPr>
              <a:t>Data Layer  </a:t>
            </a:r>
          </a:p>
        </p:txBody>
      </p:sp>
      <p:sp>
        <p:nvSpPr>
          <p:cNvPr id="100044" name="TextBox 14"/>
          <p:cNvSpPr txBox="1"/>
          <p:nvPr/>
        </p:nvSpPr>
        <p:spPr>
          <a:xfrm>
            <a:off x="1080000" y="5076000"/>
            <a:ext cx="9720000" cy="432000"/>
          </a:xfrm>
          <a:prstGeom prst="rect">
            <a:avLst/>
          </a:prstGeom>
        </p:spPr>
        <p:txBody>
          <a:bodyPr/>
          <a:lstStyle/>
          <a:p>
            <a:pPr algn="l"/>
            <a:r>
              <a:rPr lang="en-US" sz="1400">
                <a:solidFill>
                  <a:srgbClr val="FFFFFF"/>
                </a:solidFill>
                <a:latin typeface="Calibri"/>
                <a:ea typeface="Calibri"/>
              </a:rPr>
              <a:t>PostgreSQL 16  |  Redis 7 (pub/sub / cache / sessions)  |  Celery Workers  |  File System</a:t>
            </a:r>
          </a:p>
        </p:txBody>
      </p:sp>
      <p:sp>
        <p:nvSpPr>
          <p:cNvPr id="100045" name="Arrow1"/>
          <p:cNvSpPr/>
          <p:nvPr/>
        </p:nvSpPr>
        <p:spPr>
          <a:xfrm rot="5400000">
            <a:off x="5760000" y="1998000"/>
            <a:ext cx="540000" cy="216000"/>
          </a:xfrm>
          <a:prstGeom prst="rightArrow">
            <a:avLst/>
          </a:prstGeom>
          <a:solidFill>
            <a:srgbClr val="8899BB"/>
          </a:solidFill>
          <a:ln>
            <a:noFill/>
          </a:ln>
        </p:spPr>
        <p:txBody>
          <a:bodyPr/>
          <a:lstStyle/>
          <a:p/>
        </p:txBody>
      </p:sp>
      <p:sp>
        <p:nvSpPr>
          <p:cNvPr id="100046" name="Arrow2"/>
          <p:cNvSpPr/>
          <p:nvPr/>
        </p:nvSpPr>
        <p:spPr>
          <a:xfrm rot="5400000">
            <a:off x="5760000" y="3150000"/>
            <a:ext cx="540000" cy="216000"/>
          </a:xfrm>
          <a:prstGeom prst="rightArrow">
            <a:avLst/>
          </a:prstGeom>
          <a:solidFill>
            <a:srgbClr val="8899BB"/>
          </a:solidFill>
          <a:ln>
            <a:noFill/>
          </a:ln>
        </p:spPr>
        <p:txBody>
          <a:bodyPr/>
          <a:lstStyle/>
          <a:p/>
        </p:txBody>
      </p:sp>
      <p:sp>
        <p:nvSpPr>
          <p:cNvPr id="100047" name="Arrow3"/>
          <p:cNvSpPr/>
          <p:nvPr/>
        </p:nvSpPr>
        <p:spPr>
          <a:xfrm rot="5400000">
            <a:off x="5760000" y="4554000"/>
            <a:ext cx="540000" cy="216000"/>
          </a:xfrm>
          <a:prstGeom prst="rightArrow">
            <a:avLst/>
          </a:prstGeom>
          <a:solidFill>
            <a:srgbClr val="8899BB"/>
          </a:solidFill>
          <a:ln>
            <a:noFill/>
          </a:ln>
        </p:spPr>
        <p:txBody>
          <a:bodyPr/>
          <a:lstStyle/>
          <a:p/>
        </p:txBody>
      </p:sp>
    </p:spTree>
  </p:cSld>
</p:sld>
</file>

<file path=ppt/slides/slide6.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48" name="AccentBar"/>
          <p:cNvSpPr/>
          <p:nvPr/>
        </p:nvSpPr>
        <p:spPr>
          <a:xfrm>
            <a:off x="0" y="0"/>
            <a:ext cx="144000" cy="6858000"/>
          </a:xfrm>
          <a:prstGeom prst="rect">
            <a:avLst/>
          </a:prstGeom>
          <a:solidFill>
            <a:srgbClr val="1E2761"/>
          </a:solidFill>
          <a:ln>
            <a:noFill/>
          </a:ln>
        </p:spPr>
        <p:txBody>
          <a:bodyPr/>
          <a:lstStyle/>
          <a:p/>
        </p:txBody>
      </p:sp>
      <p:sp>
        <p:nvSpPr>
          <p:cNvPr id="100049" name="Title"/>
          <p:cNvSpPr txBox="1"/>
          <p:nvPr/>
        </p:nvSpPr>
        <p:spPr>
          <a:xfrm>
            <a:off x="900000" y="432000"/>
            <a:ext cx="10080000" cy="720000"/>
          </a:xfrm>
          <a:prstGeom prst="rect">
            <a:avLst/>
          </a:prstGeom>
        </p:spPr>
        <p:txBody>
          <a:bodyPr/>
          <a:lstStyle/>
          <a:p>
            <a:pPr algn="l"/>
            <a:r>
              <a:rPr lang="en-US" sz="3600" b="1">
                <a:solidFill>
                  <a:srgbClr val="1E2761"/>
                </a:solidFill>
                <a:latin typeface="Georgia"/>
                <a:ea typeface="Georgia"/>
              </a:rPr>
              <a:t>微信生态集成</a:t>
            </a:r>
          </a:p>
        </p:txBody>
      </p:sp>
      <p:sp>
        <p:nvSpPr>
          <p:cNvPr id="100050" name="MPCard"/>
          <p:cNvSpPr/>
          <p:nvPr/>
        </p:nvSpPr>
        <p:spPr>
          <a:xfrm>
            <a:off x="900000" y="1440000"/>
            <a:ext cx="4860000" cy="4680000"/>
          </a:xfrm>
          <a:prstGeom prst="roundRect">
            <a:avLst/>
          </a:prstGeom>
          <a:solidFill>
            <a:srgbClr val="F2F5FA"/>
          </a:solidFill>
          <a:ln>
            <a:noFill/>
          </a:ln>
        </p:spPr>
        <p:txBody>
          <a:bodyPr/>
          <a:lstStyle/>
          <a:p/>
        </p:txBody>
      </p:sp>
      <p:sp>
        <p:nvSpPr>
          <p:cNvPr id="100051" name="TextBox 4"/>
          <p:cNvSpPr txBox="1"/>
          <p:nvPr/>
        </p:nvSpPr>
        <p:spPr>
          <a:xfrm>
            <a:off x="1188000" y="1620000"/>
            <a:ext cx="4320000" cy="432000"/>
          </a:xfrm>
          <a:prstGeom prst="rect">
            <a:avLst/>
          </a:prstGeom>
        </p:spPr>
        <p:txBody>
          <a:bodyPr/>
          <a:lstStyle/>
          <a:p>
            <a:pPr algn="l"/>
            <a:r>
              <a:rPr lang="en-US" sz="1800" b="1">
                <a:solidFill>
                  <a:srgbClr val="1E2761"/>
                </a:solidFill>
                <a:latin typeface="Georgia"/>
                <a:ea typeface="Georgia"/>
              </a:rPr>
              <a:t>WeChat Mini-Program (Taro 4.x)</a:t>
            </a:r>
          </a:p>
        </p:txBody>
      </p:sp>
      <p:sp>
        <p:nvSpPr>
          <p:cNvPr id="100052" name="TextBox 5"/>
          <p:cNvSpPr/>
          <p:nvPr/>
        </p:nvSpPr>
        <p:spPr>
          <a:xfrm>
            <a:off x="1188000" y="2106000"/>
            <a:ext cx="4320000" cy="28800"/>
          </a:xfrm>
          <a:prstGeom prst="rect">
            <a:avLst/>
          </a:prstGeom>
          <a:solidFill>
            <a:srgbClr val="CADCFC"/>
          </a:solidFill>
          <a:ln>
            <a:noFill/>
          </a:ln>
        </p:spPr>
        <p:txBody>
          <a:bodyPr/>
          <a:lstStyle/>
          <a:p/>
        </p:txBody>
      </p:sp>
      <p:sp>
        <p:nvSpPr>
          <p:cNvPr id="100053" name="TextBox 6"/>
          <p:cNvSpPr txBox="1"/>
          <p:nvPr/>
        </p:nvSpPr>
        <p:spPr>
          <a:xfrm>
            <a:off x="1188000" y="2340000"/>
            <a:ext cx="4320000" cy="3420000"/>
          </a:xfrm>
          <a:prstGeom prst="rect">
            <a:avLst/>
          </a:prstGeom>
        </p:spPr>
        <p:txBody>
          <a:bodyPr/>
          <a:lstStyle/>
          <a:p>
            <a:pPr algn="l"/>
            <a:r>
              <a:rPr lang="en-US" sz="1500">
                <a:solidFill>
                  <a:srgbClr val="555555"/>
                </a:solidFill>
                <a:latin typeface="Calibri"/>
                <a:ea typeface="Calibri"/>
              </a:rPr>
              <a:t>5 个核心 Tab：</a:t>
            </a:r>
          </a:p>
          <a:p>
            <a:pPr algn="l"/>
            <a:r>
              <a:rPr lang="en-US" sz="1500">
                <a:solidFill>
                  <a:srgbClr val="555555"/>
                </a:solidFill>
                <a:latin typeface="Calibri"/>
                <a:ea typeface="Calibri"/>
              </a:rPr>
              <a:t/>
            </a:r>
          </a:p>
          <a:p>
            <a:pPr algn="l"/>
            <a:r>
              <a:rPr lang="en-US" sz="1500">
                <a:solidFill>
                  <a:srgbClr val="555555"/>
                </a:solidFill>
                <a:latin typeface="Calibri"/>
                <a:ea typeface="Calibri"/>
              </a:rPr>
              <a:t>🏠 首页概览 — 关键指标卡片 + 快捷操作</a:t>
            </a:r>
          </a:p>
          <a:p>
            <a:pPr algn="l"/>
            <a:r>
              <a:rPr lang="en-US" sz="1500">
                <a:solidFill>
                  <a:srgbClr val="555555"/>
                </a:solidFill>
                <a:latin typeface="Calibri"/>
                <a:ea typeface="Calibri"/>
              </a:rPr>
              <a:t>🤖 Agent 列表 — 状态监控 + 远程控制</a:t>
            </a:r>
          </a:p>
          <a:p>
            <a:pPr algn="l"/>
            <a:r>
              <a:rPr lang="en-US" sz="1500">
                <a:solidFill>
                  <a:srgbClr val="555555"/>
                </a:solidFill>
                <a:latin typeface="Calibri"/>
                <a:ea typeface="Calibri"/>
              </a:rPr>
              <a:t>📋 任务管理 — 创建、审批、结果查看</a:t>
            </a:r>
          </a:p>
          <a:p>
            <a:pPr algn="l"/>
            <a:r>
              <a:rPr lang="en-US" sz="1500">
                <a:solidFill>
                  <a:srgbClr val="555555"/>
                </a:solidFill>
                <a:latin typeface="Calibri"/>
                <a:ea typeface="Calibri"/>
              </a:rPr>
              <a:t>🔔 消息通知 — 实时推送 + 历史记录</a:t>
            </a:r>
          </a:p>
          <a:p>
            <a:pPr algn="l"/>
            <a:r>
              <a:rPr lang="en-US" sz="1500">
                <a:solidFill>
                  <a:srgbClr val="555555"/>
                </a:solidFill>
                <a:latin typeface="Calibri"/>
                <a:ea typeface="Calibri"/>
              </a:rPr>
              <a:t>👤 个人中心 — 设置、绑定、通知偏好</a:t>
            </a:r>
          </a:p>
        </p:txBody>
      </p:sp>
      <p:sp>
        <p:nvSpPr>
          <p:cNvPr id="100054" name="OACard"/>
          <p:cNvSpPr/>
          <p:nvPr/>
        </p:nvSpPr>
        <p:spPr>
          <a:xfrm>
            <a:off x="6300000" y="1440000"/>
            <a:ext cx="4860000" cy="4680000"/>
          </a:xfrm>
          <a:prstGeom prst="roundRect">
            <a:avLst/>
          </a:prstGeom>
          <a:solidFill>
            <a:srgbClr val="1E2761"/>
          </a:solidFill>
          <a:ln>
            <a:noFill/>
          </a:ln>
        </p:spPr>
        <p:txBody>
          <a:bodyPr/>
          <a:lstStyle/>
          <a:p/>
        </p:txBody>
      </p:sp>
      <p:sp>
        <p:nvSpPr>
          <p:cNvPr id="100055" name="TextBox 8"/>
          <p:cNvSpPr txBox="1"/>
          <p:nvPr/>
        </p:nvSpPr>
        <p:spPr>
          <a:xfrm>
            <a:off x="6588000" y="1620000"/>
            <a:ext cx="4320000" cy="432000"/>
          </a:xfrm>
          <a:prstGeom prst="rect">
            <a:avLst/>
          </a:prstGeom>
        </p:spPr>
        <p:txBody>
          <a:bodyPr/>
          <a:lstStyle/>
          <a:p>
            <a:pPr algn="l"/>
            <a:r>
              <a:rPr lang="en-US" sz="1800" b="1">
                <a:solidFill>
                  <a:srgbClr val="FFFFFF"/>
                </a:solidFill>
                <a:latin typeface="Georgia"/>
                <a:ea typeface="Georgia"/>
              </a:rPr>
              <a:t>WeChat Official Account</a:t>
            </a:r>
          </a:p>
        </p:txBody>
      </p:sp>
      <p:sp>
        <p:nvSpPr>
          <p:cNvPr id="100056" name="TextBox 9"/>
          <p:cNvSpPr/>
          <p:nvPr/>
        </p:nvSpPr>
        <p:spPr>
          <a:xfrm>
            <a:off x="6588000" y="2106000"/>
            <a:ext cx="4320000" cy="28800"/>
          </a:xfrm>
          <a:prstGeom prst="rect">
            <a:avLst/>
          </a:prstGeom>
          <a:solidFill>
            <a:srgbClr val="CADCFC"/>
          </a:solidFill>
          <a:ln>
            <a:noFill/>
          </a:ln>
        </p:spPr>
        <p:txBody>
          <a:bodyPr/>
          <a:lstStyle/>
          <a:p/>
        </p:txBody>
      </p:sp>
      <p:sp>
        <p:nvSpPr>
          <p:cNvPr id="100057" name="TextBox 10"/>
          <p:cNvSpPr txBox="1"/>
          <p:nvPr/>
        </p:nvSpPr>
        <p:spPr>
          <a:xfrm>
            <a:off x="6588000" y="2340000"/>
            <a:ext cx="4320000" cy="3420000"/>
          </a:xfrm>
          <a:prstGeom prst="rect">
            <a:avLst/>
          </a:prstGeom>
        </p:spPr>
        <p:txBody>
          <a:bodyPr/>
          <a:lstStyle/>
          <a:p>
            <a:pPr algn="l"/>
            <a:r>
              <a:rPr lang="en-US" sz="1400">
                <a:solidFill>
                  <a:srgbClr val="CADCFC"/>
                </a:solidFill>
                <a:latin typeface="Calibri"/>
                <a:ea typeface="Calibri"/>
              </a:rPr>
              <a:t>3 大消息通道：</a:t>
            </a:r>
          </a:p>
          <a:p>
            <a:pPr algn="l"/>
            <a:r>
              <a:rPr lang="en-US" sz="1400">
                <a:solidFill>
                  <a:srgbClr val="CADCFC"/>
                </a:solidFill>
                <a:latin typeface="Calibri"/>
                <a:ea typeface="Calibri"/>
              </a:rPr>
              <a:t/>
            </a:r>
          </a:p>
          <a:p>
            <a:pPr algn="l"/>
            <a:r>
              <a:rPr lang="en-US" sz="1400">
                <a:solidFill>
                  <a:srgbClr val="CADCFC"/>
                </a:solidFill>
                <a:latin typeface="Calibri"/>
                <a:ea typeface="Calibri"/>
              </a:rPr>
              <a:t>📨 模板消息推送</a:t>
            </a:r>
          </a:p>
          <a:p>
            <a:pPr algn="l"/>
            <a:r>
              <a:rPr lang="en-US" sz="1400">
                <a:solidFill>
                  <a:srgbClr val="CADCFC"/>
                </a:solidFill>
                <a:latin typeface="Calibri"/>
                <a:ea typeface="Calibri"/>
              </a:rPr>
              <a:t>  · 任务完成通知</a:t>
            </a:r>
          </a:p>
          <a:p>
            <a:pPr algn="l"/>
            <a:r>
              <a:rPr lang="en-US" sz="1400">
                <a:solidFill>
                  <a:srgbClr val="CADCFC"/>
                </a:solidFill>
                <a:latin typeface="Calibri"/>
                <a:ea typeface="Calibri"/>
              </a:rPr>
              <a:t>  · 异常告警</a:t>
            </a:r>
          </a:p>
          <a:p>
            <a:pPr algn="l"/>
            <a:r>
              <a:rPr lang="en-US" sz="1400">
                <a:solidFill>
                  <a:srgbClr val="CADCFC"/>
                </a:solidFill>
                <a:latin typeface="Calibri"/>
                <a:ea typeface="Calibri"/>
              </a:rPr>
              <a:t>  · Token 超额预警</a:t>
            </a:r>
          </a:p>
          <a:p>
            <a:pPr algn="l"/>
            <a:r>
              <a:rPr lang="en-US" sz="1400">
                <a:solidFill>
                  <a:srgbClr val="CADCFC"/>
                </a:solidFill>
                <a:latin typeface="Calibri"/>
                <a:ea typeface="Calibri"/>
              </a:rPr>
              <a:t>  · 日报 / 周报</a:t>
            </a:r>
          </a:p>
          <a:p>
            <a:pPr algn="l"/>
            <a:r>
              <a:rPr lang="en-US" sz="1400">
                <a:solidFill>
                  <a:srgbClr val="CADCFC"/>
                </a:solidFill>
                <a:latin typeface="Calibri"/>
                <a:ea typeface="Calibri"/>
              </a:rPr>
              <a:t/>
            </a:r>
          </a:p>
          <a:p>
            <a:pPr algn="l"/>
            <a:r>
              <a:rPr lang="en-US" sz="1400">
                <a:solidFill>
                  <a:srgbClr val="CADCFC"/>
                </a:solidFill>
                <a:latin typeface="Calibri"/>
                <a:ea typeface="Calibri"/>
              </a:rPr>
              <a:t>💬 客服消息交互</a:t>
            </a:r>
          </a:p>
          <a:p>
            <a:pPr algn="l"/>
            <a:r>
              <a:rPr lang="en-US" sz="1400">
                <a:solidFill>
                  <a:srgbClr val="CADCFC"/>
                </a:solidFill>
                <a:latin typeface="Calibri"/>
                <a:ea typeface="Calibri"/>
              </a:rPr>
              <a:t>  · 快捷指令</a:t>
            </a:r>
          </a:p>
          <a:p>
            <a:pPr algn="l"/>
            <a:r>
              <a:rPr lang="en-US" sz="1400">
                <a:solidFill>
                  <a:srgbClr val="CADCFC"/>
                </a:solidFill>
                <a:latin typeface="Calibri"/>
                <a:ea typeface="Calibri"/>
              </a:rPr>
              <a:t>  · NLP 意图解析</a:t>
            </a:r>
          </a:p>
          <a:p>
            <a:pPr algn="l"/>
            <a:r>
              <a:rPr lang="en-US" sz="1400">
                <a:solidFill>
                  <a:srgbClr val="CADCFC"/>
                </a:solidFill>
                <a:latin typeface="Calibri"/>
                <a:ea typeface="Calibri"/>
              </a:rPr>
              <a:t>  · 语音转文字</a:t>
            </a:r>
          </a:p>
          <a:p>
            <a:pPr algn="l"/>
            <a:r>
              <a:rPr lang="en-US" sz="1400">
                <a:solidFill>
                  <a:srgbClr val="CADCFC"/>
                </a:solidFill>
                <a:latin typeface="Calibri"/>
                <a:ea typeface="Calibri"/>
              </a:rPr>
              <a:t/>
            </a:r>
          </a:p>
          <a:p>
            <a:pPr algn="l"/>
            <a:r>
              <a:rPr lang="en-US" sz="1400">
                <a:solidFill>
                  <a:srgbClr val="CADCFC"/>
                </a:solidFill>
                <a:latin typeface="Calibri"/>
                <a:ea typeface="Calibri"/>
              </a:rPr>
              <a:t>📋 菜单交互</a:t>
            </a:r>
          </a:p>
          <a:p>
            <a:pPr algn="l"/>
            <a:r>
              <a:rPr lang="en-US" sz="1400">
                <a:solidFill>
                  <a:srgbClr val="CADCFC"/>
                </a:solidFill>
                <a:latin typeface="Calibri"/>
                <a:ea typeface="Calibri"/>
              </a:rPr>
              <a:t>  · Agent 状态查询</a:t>
            </a:r>
          </a:p>
          <a:p>
            <a:pPr algn="l"/>
            <a:r>
              <a:rPr lang="en-US" sz="1400">
                <a:solidFill>
                  <a:srgbClr val="CADCFC"/>
                </a:solidFill>
                <a:latin typeface="Calibri"/>
                <a:ea typeface="Calibri"/>
              </a:rPr>
              <a:t>  · 今日统计</a:t>
            </a:r>
          </a:p>
          <a:p>
            <a:pPr algn="l"/>
            <a:r>
              <a:rPr lang="en-US" sz="1400">
                <a:solidFill>
                  <a:srgbClr val="CADCFC"/>
                </a:solidFill>
                <a:latin typeface="Calibri"/>
                <a:ea typeface="Calibri"/>
              </a:rPr>
              <a:t>  · 快捷操作</a:t>
            </a:r>
          </a:p>
        </p:txBody>
      </p:sp>
    </p:spTree>
  </p:cSld>
</p:sld>
</file>

<file path=ppt/slides/slide7.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58" name="AccentBar"/>
          <p:cNvSpPr/>
          <p:nvPr/>
        </p:nvSpPr>
        <p:spPr>
          <a:xfrm>
            <a:off x="0" y="0"/>
            <a:ext cx="144000" cy="6858000"/>
          </a:xfrm>
          <a:prstGeom prst="rect">
            <a:avLst/>
          </a:prstGeom>
          <a:solidFill>
            <a:srgbClr val="1E2761"/>
          </a:solidFill>
          <a:ln>
            <a:noFill/>
          </a:ln>
        </p:spPr>
        <p:txBody>
          <a:bodyPr/>
          <a:lstStyle/>
          <a:p/>
        </p:txBody>
      </p:sp>
      <p:sp>
        <p:nvSpPr>
          <p:cNvPr id="100059" name="Title"/>
          <p:cNvSpPr txBox="1"/>
          <p:nvPr/>
        </p:nvSpPr>
        <p:spPr>
          <a:xfrm>
            <a:off x="900000" y="288000"/>
            <a:ext cx="10080000" cy="576000"/>
          </a:xfrm>
          <a:prstGeom prst="rect">
            <a:avLst/>
          </a:prstGeom>
        </p:spPr>
        <p:txBody>
          <a:bodyPr/>
          <a:lstStyle/>
          <a:p>
            <a:pPr algn="l"/>
            <a:r>
              <a:rPr lang="en-US" sz="3600" b="1">
                <a:solidFill>
                  <a:srgbClr val="1E2761"/>
                </a:solidFill>
                <a:latin typeface="Georgia"/>
                <a:ea typeface="Georgia"/>
              </a:rPr>
              <a:t>数据库设计 — PostgreSQL 16</a:t>
            </a:r>
          </a:p>
        </p:txBody>
      </p:sp>
      <p:sp>
        <p:nvSpPr>
          <p:cNvPr id="100060" name="ERBox"/>
          <p:cNvSpPr/>
          <p:nvPr/>
        </p:nvSpPr>
        <p:spPr>
          <a:xfrm>
            <a:off x="900000" y="1080000"/>
            <a:ext cx="10080000" cy="1440000"/>
          </a:xfrm>
          <a:prstGeom prst="roundRect">
            <a:avLst/>
          </a:prstGeom>
          <a:solidFill>
            <a:srgbClr val="1E2761"/>
          </a:solidFill>
          <a:ln>
            <a:noFill/>
          </a:ln>
        </p:spPr>
        <p:txBody>
          <a:bodyPr/>
          <a:lstStyle/>
          <a:p/>
        </p:txBody>
      </p:sp>
      <p:sp>
        <p:nvSpPr>
          <p:cNvPr id="100061" name="TextBox 4"/>
          <p:cNvSpPr txBox="1"/>
          <p:nvPr/>
        </p:nvSpPr>
        <p:spPr>
          <a:xfrm>
            <a:off x="1260000" y="1152000"/>
            <a:ext cx="3600000" cy="288000"/>
          </a:xfrm>
          <a:prstGeom prst="rect">
            <a:avLst/>
          </a:prstGeom>
        </p:spPr>
        <p:txBody>
          <a:bodyPr/>
          <a:lstStyle/>
          <a:p>
            <a:pPr algn="l"/>
            <a:r>
              <a:rPr lang="en-US" sz="1600" b="1">
                <a:solidFill>
                  <a:srgbClr val="CADCFC"/>
                </a:solidFill>
                <a:latin typeface="Georgia"/>
                <a:ea typeface="Georgia"/>
              </a:rPr>
              <a:t>Core Entity Relationships</a:t>
            </a:r>
          </a:p>
        </p:txBody>
      </p:sp>
      <p:sp>
        <p:nvSpPr>
          <p:cNvPr id="100062" name="TextBox 5"/>
          <p:cNvSpPr txBox="1"/>
          <p:nvPr/>
        </p:nvSpPr>
        <p:spPr>
          <a:xfrm>
            <a:off x="1260000" y="1476000"/>
            <a:ext cx="9360000" cy="1260000"/>
          </a:xfrm>
          <a:prstGeom prst="rect">
            <a:avLst/>
          </a:prstGeom>
        </p:spPr>
        <p:txBody>
          <a:bodyPr/>
          <a:lstStyle/>
          <a:p>
            <a:pPr algn="l"/>
            <a:r>
              <a:rPr lang="en-US" sz="1300">
                <a:solidFill>
                  <a:srgbClr val="FFFFFF"/>
                </a:solidFill>
                <a:latin typeface="Consolas"/>
                <a:ea typeface="Consolas"/>
              </a:rPr>
              <a:t>users → projects → agent_sessions ← sub_agents</a:t>
            </a:r>
          </a:p>
          <a:p>
            <a:pPr algn="l"/>
            <a:r>
              <a:rPr lang="en-US" sz="1300">
                <a:solidFill>
                  <a:srgbClr val="FFFFFF"/>
                </a:solidFill>
                <a:latin typeface="Consolas"/>
                <a:ea typeface="Consolas"/>
              </a:rPr>
              <a:t>users → sessions → session_messages</a:t>
            </a:r>
          </a:p>
          <a:p>
            <a:pPr algn="l"/>
            <a:r>
              <a:rPr lang="en-US" sz="1300">
                <a:solidFill>
                  <a:srgbClr val="FFFFFF"/>
                </a:solidFill>
                <a:latin typeface="Consolas"/>
                <a:ea typeface="Consolas"/>
              </a:rPr>
              <a:t>sub_agents → agent_tasks, agent_token_usage</a:t>
            </a:r>
          </a:p>
          <a:p>
            <a:pPr algn="l"/>
            <a:r>
              <a:rPr lang="en-US" sz="1300">
                <a:solidFill>
                  <a:srgbClr val="FFFFFF"/>
                </a:solidFill>
                <a:latin typeface="Consolas"/>
                <a:ea typeface="Consolas"/>
              </a:rPr>
              <a:t>sub_agents ↔ skills (M:N)</a:t>
            </a:r>
          </a:p>
          <a:p>
            <a:pPr algn="l"/>
            <a:r>
              <a:rPr lang="en-US" sz="1300">
                <a:solidFill>
                  <a:srgbClr val="FFFFFF"/>
                </a:solidFill>
                <a:latin typeface="Consolas"/>
                <a:ea typeface="Consolas"/>
              </a:rPr>
              <a:t>nodes → agent_sessions</a:t>
            </a:r>
          </a:p>
          <a:p>
            <a:pPr algn="l"/>
            <a:r>
              <a:rPr lang="en-US" sz="1300">
                <a:solidFill>
                  <a:srgbClr val="FFFFFF"/>
                </a:solidFill>
                <a:latin typeface="Consolas"/>
                <a:ea typeface="Consolas"/>
              </a:rPr>
              <a:t>cron_jobs → cron_executions</a:t>
            </a:r>
          </a:p>
          <a:p>
            <a:pPr algn="l"/>
            <a:r>
              <a:rPr lang="en-US" sz="1300">
                <a:solidFill>
                  <a:srgbClr val="FFFFFF"/>
                </a:solidFill>
                <a:latin typeface="Consolas"/>
                <a:ea typeface="Consolas"/>
              </a:rPr>
              <a:t>wechat_users → users, wechat_messages, wechat_notifications</a:t>
            </a:r>
          </a:p>
        </p:txBody>
      </p:sp>
      <p:graphicFrame>
        <p:nvGraphicFramePr>
          <p:cNvPr id="100063" name="Table 1"/>
          <p:cNvGraphicFramePr/>
          <p:nvPr/>
        </p:nvGraphicFramePr>
        <p:xfrm>
          <a:off x="900000" y="2808000"/>
          <a:ext cx="10080000" cy="3600000"/>
        </p:xfrm>
        <a:graphic>
          <a:graphicData uri="http://schemas.openxmlformats.org/drawingml/2006/table">
            <a:tbl>
              <a:tblPr firstRow="1" bandRow="1"/>
              <a:tblGrid>
                <a:gridCol w="5040000"/>
                <a:gridCol w="5040000"/>
              </a:tblGrid>
              <a:tr h="327272">
                <a:tc>
                  <a:txBody>
                    <a:bodyPr/>
                    <a:lstStyle/>
                    <a:p>
                      <a:r>
                        <a:rPr lang="en-US" sz="1300" b="1">
                          <a:solidFill>
                            <a:srgbClr val="FFFFFF"/>
                          </a:solidFill>
                          <a:latin typeface="Calibri"/>
                          <a:ea typeface="Calibri"/>
                        </a:rPr>
                        <a:t>Table Name</a:t>
                      </a:r>
                    </a:p>
                  </a:txBody>
                  <a:tcPr>
                    <a:solidFill>
                      <a:srgbClr val="1E2761"/>
                    </a:solidFill>
                  </a:tcPr>
                </a:tc>
                <a:tc>
                  <a:txBody>
                    <a:bodyPr/>
                    <a:lstStyle/>
                    <a:p>
                      <a:r>
                        <a:rPr lang="en-US" sz="1300" b="1">
                          <a:solidFill>
                            <a:srgbClr val="FFFFFF"/>
                          </a:solidFill>
                          <a:latin typeface="Calibri"/>
                          <a:ea typeface="Calibri"/>
                        </a:rPr>
                        <a:t>Purpose</a:t>
                      </a:r>
                    </a:p>
                  </a:txBody>
                  <a:tcPr>
                    <a:solidFill>
                      <a:srgbClr val="1E2761"/>
                    </a:solidFill>
                  </a:tcPr>
                </a:tc>
              </a:tr>
              <a:tr h="327272">
                <a:tc>
                  <a:txBody>
                    <a:bodyPr/>
                    <a:lstStyle/>
                    <a:p>
                      <a:r>
                        <a:rPr lang="en-US" sz="1200">
                          <a:solidFill>
                            <a:srgbClr val="333333"/>
                          </a:solidFill>
                          <a:latin typeface="Calibri"/>
                          <a:ea typeface="Calibri"/>
                        </a:rPr>
                        <a:t>users / refresh_tokens</a:t>
                      </a:r>
                    </a:p>
                  </a:txBody>
                  <a:tcPr>
                    <a:solidFill>
                      <a:srgbClr val="F2F5FA"/>
                    </a:solidFill>
                  </a:tcPr>
                </a:tc>
                <a:tc>
                  <a:txBody>
                    <a:bodyPr/>
                    <a:lstStyle/>
                    <a:p>
                      <a:r>
                        <a:rPr lang="en-US" sz="1200">
                          <a:solidFill>
                            <a:srgbClr val="333333"/>
                          </a:solidFill>
                          <a:latin typeface="Calibri"/>
                          <a:ea typeface="Calibri"/>
                        </a:rPr>
                        <a:t>User accounts and JWT token management</a:t>
                      </a:r>
                    </a:p>
                  </a:txBody>
                  <a:tcPr>
                    <a:solidFill>
                      <a:srgbClr val="F2F5FA"/>
                    </a:solidFill>
                  </a:tcPr>
                </a:tc>
              </a:tr>
              <a:tr h="327272">
                <a:tc>
                  <a:txBody>
                    <a:bodyPr/>
                    <a:lstStyle/>
                    <a:p>
                      <a:r>
                        <a:rPr lang="en-US" sz="1200">
                          <a:solidFill>
                            <a:srgbClr val="333333"/>
                          </a:solidFill>
                          <a:latin typeface="Calibri"/>
                          <a:ea typeface="Calibri"/>
                        </a:rPr>
                        <a:t>projects / project_members</a:t>
                      </a:r>
                    </a:p>
                  </a:txBody>
                  <a:tcPr/>
                </a:tc>
                <a:tc>
                  <a:txBody>
                    <a:bodyPr/>
                    <a:lstStyle/>
                    <a:p>
                      <a:r>
                        <a:rPr lang="en-US" sz="1200">
                          <a:solidFill>
                            <a:srgbClr val="333333"/>
                          </a:solidFill>
                          <a:latin typeface="Calibri"/>
                          <a:ea typeface="Calibri"/>
                        </a:rPr>
                        <a:t>Project info, root dir, member permissions</a:t>
                      </a:r>
                    </a:p>
                  </a:txBody>
                  <a:tcPr/>
                </a:tc>
              </a:tr>
              <a:tr h="327272">
                <a:tc>
                  <a:txBody>
                    <a:bodyPr/>
                    <a:lstStyle/>
                    <a:p>
                      <a:r>
                        <a:rPr lang="en-US" sz="1200">
                          <a:solidFill>
                            <a:srgbClr val="333333"/>
                          </a:solidFill>
                          <a:latin typeface="Calibri"/>
                          <a:ea typeface="Calibri"/>
                        </a:rPr>
                        <a:t>sub_agents / agent_role_presets</a:t>
                      </a:r>
                    </a:p>
                  </a:txBody>
                  <a:tcPr>
                    <a:solidFill>
                      <a:srgbClr val="F2F5FA"/>
                    </a:solidFill>
                  </a:tcPr>
                </a:tc>
                <a:tc>
                  <a:txBody>
                    <a:bodyPr/>
                    <a:lstStyle/>
                    <a:p>
                      <a:r>
                        <a:rPr lang="en-US" sz="1200">
                          <a:solidFill>
                            <a:srgbClr val="333333"/>
                          </a:solidFill>
                          <a:latin typeface="Calibri"/>
                          <a:ea typeface="Calibri"/>
                        </a:rPr>
                        <a:t>Agent instances (16 built-in roles + custom)</a:t>
                      </a:r>
                    </a:p>
                  </a:txBody>
                  <a:tcPr>
                    <a:solidFill>
                      <a:srgbClr val="F2F5FA"/>
                    </a:solidFill>
                  </a:tcPr>
                </a:tc>
              </a:tr>
              <a:tr h="327272">
                <a:tc>
                  <a:txBody>
                    <a:bodyPr/>
                    <a:lstStyle/>
                    <a:p>
                      <a:r>
                        <a:rPr lang="en-US" sz="1200">
                          <a:solidFill>
                            <a:srgbClr val="333333"/>
                          </a:solidFill>
                          <a:latin typeface="Calibri"/>
                          <a:ea typeface="Calibri"/>
                        </a:rPr>
                        <a:t>agent_sessions / agent_tasks</a:t>
                      </a:r>
                    </a:p>
                  </a:txBody>
                  <a:tcPr/>
                </a:tc>
                <a:tc>
                  <a:txBody>
                    <a:bodyPr/>
                    <a:lstStyle/>
                    <a:p>
                      <a:r>
                        <a:rPr lang="en-US" sz="1200">
                          <a:solidFill>
                            <a:srgbClr val="333333"/>
                          </a:solidFill>
                          <a:latin typeface="Calibri"/>
                          <a:ea typeface="Calibri"/>
                        </a:rPr>
                        <a:t>Work sessions and task queue management</a:t>
                      </a:r>
                    </a:p>
                  </a:txBody>
                  <a:tcPr/>
                </a:tc>
              </a:tr>
              <a:tr h="327272">
                <a:tc>
                  <a:txBody>
                    <a:bodyPr/>
                    <a:lstStyle/>
                    <a:p>
                      <a:r>
                        <a:rPr lang="en-US" sz="1200">
                          <a:solidFill>
                            <a:srgbClr val="333333"/>
                          </a:solidFill>
                          <a:latin typeface="Calibri"/>
                          <a:ea typeface="Calibri"/>
                        </a:rPr>
                        <a:t>agent_token_usage</a:t>
                      </a:r>
                    </a:p>
                  </a:txBody>
                  <a:tcPr>
                    <a:solidFill>
                      <a:srgbClr val="F2F5FA"/>
                    </a:solidFill>
                  </a:tcPr>
                </a:tc>
                <a:tc>
                  <a:txBody>
                    <a:bodyPr/>
                    <a:lstStyle/>
                    <a:p>
                      <a:r>
                        <a:rPr lang="en-US" sz="1200">
                          <a:solidFill>
                            <a:srgbClr val="333333"/>
                          </a:solidFill>
                          <a:latin typeface="Calibri"/>
                          <a:ea typeface="Calibri"/>
                        </a:rPr>
                        <a:t>Token consumption tracking and cost analysis</a:t>
                      </a:r>
                    </a:p>
                  </a:txBody>
                  <a:tcPr>
                    <a:solidFill>
                      <a:srgbClr val="F2F5FA"/>
                    </a:solidFill>
                  </a:tcPr>
                </a:tc>
              </a:tr>
              <a:tr h="327272">
                <a:tc>
                  <a:txBody>
                    <a:bodyPr/>
                    <a:lstStyle/>
                    <a:p>
                      <a:r>
                        <a:rPr lang="en-US" sz="1200">
                          <a:solidFill>
                            <a:srgbClr val="333333"/>
                          </a:solidFill>
                          <a:latin typeface="Calibri"/>
                          <a:ea typeface="Calibri"/>
                        </a:rPr>
                        <a:t>skills / agent_skills</a:t>
                      </a:r>
                    </a:p>
                  </a:txBody>
                  <a:tcPr/>
                </a:tc>
                <a:tc>
                  <a:txBody>
                    <a:bodyPr/>
                    <a:lstStyle/>
                    <a:p>
                      <a:r>
                        <a:rPr lang="en-US" sz="1200">
                          <a:solidFill>
                            <a:srgbClr val="333333"/>
                          </a:solidFill>
                          <a:latin typeface="Calibri"/>
                          <a:ea typeface="Calibri"/>
                        </a:rPr>
                        <a:t>Skill definitions with M:N agent association</a:t>
                      </a:r>
                    </a:p>
                  </a:txBody>
                  <a:tcPr/>
                </a:tc>
              </a:tr>
              <a:tr h="327272">
                <a:tc>
                  <a:txBody>
                    <a:bodyPr/>
                    <a:lstStyle/>
                    <a:p>
                      <a:r>
                        <a:rPr lang="en-US" sz="1200">
                          <a:solidFill>
                            <a:srgbClr val="333333"/>
                          </a:solidFill>
                          <a:latin typeface="Calibri"/>
                          <a:ea typeface="Calibri"/>
                        </a:rPr>
                        <a:t>nodes / cron_jobs</a:t>
                      </a:r>
                    </a:p>
                  </a:txBody>
                  <a:tcPr>
                    <a:solidFill>
                      <a:srgbClr val="F2F5FA"/>
                    </a:solidFill>
                  </a:tcPr>
                </a:tc>
                <a:tc>
                  <a:txBody>
                    <a:bodyPr/>
                    <a:lstStyle/>
                    <a:p>
                      <a:r>
                        <a:rPr lang="en-US" sz="1200">
                          <a:solidFill>
                            <a:srgbClr val="333333"/>
                          </a:solidFill>
                          <a:latin typeface="Calibri"/>
                          <a:ea typeface="Calibri"/>
                        </a:rPr>
                        <a:t>Compute node registry and scheduled task engine</a:t>
                      </a:r>
                    </a:p>
                  </a:txBody>
                  <a:tcPr>
                    <a:solidFill>
                      <a:srgbClr val="F2F5FA"/>
                    </a:solidFill>
                  </a:tcPr>
                </a:tc>
              </a:tr>
              <a:tr h="327272">
                <a:tc>
                  <a:txBody>
                    <a:bodyPr/>
                    <a:lstStyle/>
                    <a:p>
                      <a:r>
                        <a:rPr lang="en-US" sz="1200">
                          <a:solidFill>
                            <a:srgbClr val="333333"/>
                          </a:solidFill>
                          <a:latin typeface="Calibri"/>
                          <a:ea typeface="Calibri"/>
                        </a:rPr>
                        <a:t>terminal_sessions</a:t>
                      </a:r>
                    </a:p>
                  </a:txBody>
                  <a:tcPr/>
                </a:tc>
                <a:tc>
                  <a:txBody>
                    <a:bodyPr/>
                    <a:lstStyle/>
                    <a:p>
                      <a:r>
                        <a:rPr lang="en-US" sz="1200">
                          <a:solidFill>
                            <a:srgbClr val="333333"/>
                          </a:solidFill>
                          <a:latin typeface="Calibri"/>
                          <a:ea typeface="Calibri"/>
                        </a:rPr>
                        <a:t>Terminal session history and replay</a:t>
                      </a:r>
                    </a:p>
                  </a:txBody>
                  <a:tcPr/>
                </a:tc>
              </a:tr>
              <a:tr h="327272">
                <a:tc>
                  <a:txBody>
                    <a:bodyPr/>
                    <a:lstStyle/>
                    <a:p>
                      <a:r>
                        <a:rPr lang="en-US" sz="1200">
                          <a:solidFill>
                            <a:srgbClr val="333333"/>
                          </a:solidFill>
                          <a:latin typeface="Calibri"/>
                          <a:ea typeface="Calibri"/>
                        </a:rPr>
                        <a:t>wechat_users / wechat_messages</a:t>
                      </a:r>
                    </a:p>
                  </a:txBody>
                  <a:tcPr>
                    <a:solidFill>
                      <a:srgbClr val="F2F5FA"/>
                    </a:solidFill>
                  </a:tcPr>
                </a:tc>
                <a:tc>
                  <a:txBody>
                    <a:bodyPr/>
                    <a:lstStyle/>
                    <a:p>
                      <a:r>
                        <a:rPr lang="en-US" sz="1200">
                          <a:solidFill>
                            <a:srgbClr val="333333"/>
                          </a:solidFill>
                          <a:latin typeface="Calibri"/>
                          <a:ea typeface="Calibri"/>
                        </a:rPr>
                        <a:t>WeChat user binding and message records</a:t>
                      </a:r>
                    </a:p>
                  </a:txBody>
                  <a:tcPr>
                    <a:solidFill>
                      <a:srgbClr val="F2F5FA"/>
                    </a:solidFill>
                  </a:tcPr>
                </a:tc>
              </a:tr>
              <a:tr h="327272">
                <a:tc>
                  <a:txBody>
                    <a:bodyPr/>
                    <a:lstStyle/>
                    <a:p>
                      <a:r>
                        <a:rPr lang="en-US" sz="1200">
                          <a:solidFill>
                            <a:srgbClr val="333333"/>
                          </a:solidFill>
                          <a:latin typeface="Calibri"/>
                          <a:ea typeface="Calibri"/>
                        </a:rPr>
                        <a:t>metric_snapshots (partitioned)</a:t>
                      </a:r>
                    </a:p>
                  </a:txBody>
                  <a:tcPr/>
                </a:tc>
                <a:tc>
                  <a:txBody>
                    <a:bodyPr/>
                    <a:lstStyle/>
                    <a:p>
                      <a:r>
                        <a:rPr lang="en-US" sz="1200">
                          <a:solidFill>
                            <a:srgbClr val="333333"/>
                          </a:solidFill>
                          <a:latin typeface="Calibri"/>
                          <a:ea typeface="Calibri"/>
                        </a:rPr>
                        <a:t>System metrics time-series data (monthly)</a:t>
                      </a:r>
                    </a:p>
                  </a:txBody>
                  <a:tcPr/>
                </a:tc>
              </a:tr>
            </a:tbl>
          </a:graphicData>
        </a:graphic>
      </p:graphicFrame>
    </p:spTree>
  </p:cSld>
</p:sld>
</file>

<file path=ppt/slides/slide8.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64" name="AccentBar"/>
          <p:cNvSpPr/>
          <p:nvPr/>
        </p:nvSpPr>
        <p:spPr>
          <a:xfrm>
            <a:off x="0" y="0"/>
            <a:ext cx="144000" cy="6858000"/>
          </a:xfrm>
          <a:prstGeom prst="rect">
            <a:avLst/>
          </a:prstGeom>
          <a:solidFill>
            <a:srgbClr val="1E2761"/>
          </a:solidFill>
          <a:ln>
            <a:noFill/>
          </a:ln>
        </p:spPr>
        <p:txBody>
          <a:bodyPr/>
          <a:lstStyle/>
          <a:p/>
        </p:txBody>
      </p:sp>
      <p:sp>
        <p:nvSpPr>
          <p:cNvPr id="100065" name="Title"/>
          <p:cNvSpPr txBox="1"/>
          <p:nvPr/>
        </p:nvSpPr>
        <p:spPr>
          <a:xfrm>
            <a:off x="900000" y="288000"/>
            <a:ext cx="10080000" cy="576000"/>
          </a:xfrm>
          <a:prstGeom prst="rect">
            <a:avLst/>
          </a:prstGeom>
        </p:spPr>
        <p:txBody>
          <a:bodyPr/>
          <a:lstStyle/>
          <a:p>
            <a:pPr algn="l"/>
            <a:r>
              <a:rPr lang="en-US" sz="3600" b="1">
                <a:solidFill>
                  <a:srgbClr val="1E2761"/>
                </a:solidFill>
                <a:latin typeface="Georgia"/>
                <a:ea typeface="Georgia"/>
              </a:rPr>
              <a:t>核心功能 — Agent 生命周期编排</a:t>
            </a:r>
          </a:p>
        </p:txBody>
      </p:sp>
      <p:sp>
        <p:nvSpPr>
          <p:cNvPr id="100066" name="Step1"/>
          <p:cNvSpPr/>
          <p:nvPr/>
        </p:nvSpPr>
        <p:spPr>
          <a:xfrm>
            <a:off x="900000" y="1260000"/>
            <a:ext cx="1872000" cy="1080000"/>
          </a:xfrm>
          <a:prstGeom prst="roundRect">
            <a:avLst/>
          </a:prstGeom>
          <a:solidFill>
            <a:srgbClr val="1E2761"/>
          </a:solidFill>
          <a:ln>
            <a:noFill/>
          </a:ln>
        </p:spPr>
        <p:txBody>
          <a:bodyPr/>
          <a:lstStyle/>
          <a:p/>
        </p:txBody>
      </p:sp>
      <p:sp>
        <p:nvSpPr>
          <p:cNvPr id="100067" name="TextBox 4"/>
          <p:cNvSpPr txBox="1"/>
          <p:nvPr/>
        </p:nvSpPr>
        <p:spPr>
          <a:xfrm>
            <a:off x="900000" y="1368000"/>
            <a:ext cx="1872000" cy="360000"/>
          </a:xfrm>
          <a:prstGeom prst="rect">
            <a:avLst/>
          </a:prstGeom>
        </p:spPr>
        <p:txBody>
          <a:bodyPr/>
          <a:lstStyle/>
          <a:p>
            <a:pPr algn="ctr"/>
            <a:r>
              <a:rPr lang="en-US" sz="1800" b="1">
                <a:solidFill>
                  <a:srgbClr val="FFFFFF"/>
                </a:solidFill>
                <a:latin typeface="Georgia"/>
                <a:ea typeface="Georgia"/>
              </a:rPr>
              <a:t>Create</a:t>
            </a:r>
          </a:p>
        </p:txBody>
      </p:sp>
      <p:sp>
        <p:nvSpPr>
          <p:cNvPr id="100068" name="TextBox 5"/>
          <p:cNvSpPr txBox="1"/>
          <p:nvPr/>
        </p:nvSpPr>
        <p:spPr>
          <a:xfrm>
            <a:off x="900000" y="1728000"/>
            <a:ext cx="1872000" cy="432000"/>
          </a:xfrm>
          <a:prstGeom prst="rect">
            <a:avLst/>
          </a:prstGeom>
        </p:spPr>
        <p:txBody>
          <a:bodyPr/>
          <a:lstStyle/>
          <a:p>
            <a:pPr algn="ctr"/>
            <a:r>
              <a:rPr lang="en-US" sz="1100">
                <a:solidFill>
                  <a:srgbClr val="CADCFC"/>
                </a:solidFill>
                <a:latin typeface="Calibri"/>
                <a:ea typeface="Calibri"/>
              </a:rPr>
              <a:t>16 role presets</a:t>
            </a:r>
          </a:p>
          <a:p>
            <a:pPr algn="ctr"/>
            <a:r>
              <a:rPr lang="en-US" sz="1100">
                <a:solidFill>
                  <a:srgbClr val="CADCFC"/>
                </a:solidFill>
                <a:latin typeface="Calibri"/>
                <a:ea typeface="Calibri"/>
              </a:rPr>
              <a:t>Custom config</a:t>
            </a:r>
          </a:p>
        </p:txBody>
      </p:sp>
      <p:sp>
        <p:nvSpPr>
          <p:cNvPr id="100069" name="Step2"/>
          <p:cNvSpPr/>
          <p:nvPr/>
        </p:nvSpPr>
        <p:spPr>
          <a:xfrm>
            <a:off x="3168000" y="1260000"/>
            <a:ext cx="1872000" cy="1080000"/>
          </a:xfrm>
          <a:prstGeom prst="roundRect">
            <a:avLst/>
          </a:prstGeom>
          <a:solidFill>
            <a:srgbClr val="065A82"/>
          </a:solidFill>
          <a:ln>
            <a:noFill/>
          </a:ln>
        </p:spPr>
        <p:txBody>
          <a:bodyPr/>
          <a:lstStyle/>
          <a:p/>
        </p:txBody>
      </p:sp>
      <p:sp>
        <p:nvSpPr>
          <p:cNvPr id="100070" name="TextBox 7"/>
          <p:cNvSpPr txBox="1"/>
          <p:nvPr/>
        </p:nvSpPr>
        <p:spPr>
          <a:xfrm>
            <a:off x="3168000" y="1368000"/>
            <a:ext cx="1872000" cy="360000"/>
          </a:xfrm>
          <a:prstGeom prst="rect">
            <a:avLst/>
          </a:prstGeom>
        </p:spPr>
        <p:txBody>
          <a:bodyPr/>
          <a:lstStyle/>
          <a:p>
            <a:pPr algn="ctr"/>
            <a:r>
              <a:rPr lang="en-US" sz="1800" b="1">
                <a:solidFill>
                  <a:srgbClr val="FFFFFF"/>
                </a:solidFill>
                <a:latin typeface="Georgia"/>
                <a:ea typeface="Georgia"/>
              </a:rPr>
              <a:t>Configure</a:t>
            </a:r>
          </a:p>
        </p:txBody>
      </p:sp>
      <p:sp>
        <p:nvSpPr>
          <p:cNvPr id="100071" name="TextBox 8"/>
          <p:cNvSpPr txBox="1"/>
          <p:nvPr/>
        </p:nvSpPr>
        <p:spPr>
          <a:xfrm>
            <a:off x="3168000" y="1728000"/>
            <a:ext cx="1872000" cy="432000"/>
          </a:xfrm>
          <a:prstGeom prst="rect">
            <a:avLst/>
          </a:prstGeom>
        </p:spPr>
        <p:txBody>
          <a:bodyPr/>
          <a:lstStyle/>
          <a:p>
            <a:pPr algn="ctr"/>
            <a:r>
              <a:rPr lang="en-US" sz="1100">
                <a:solidFill>
                  <a:srgbClr val="CADCFC"/>
                </a:solidFill>
                <a:latin typeface="Calibri"/>
                <a:ea typeface="Calibri"/>
              </a:rPr>
              <a:t>Skills + Tools</a:t>
            </a:r>
          </a:p>
          <a:p>
            <a:pPr algn="ctr"/>
            <a:r>
              <a:rPr lang="en-US" sz="1100">
                <a:solidFill>
                  <a:srgbClr val="CADCFC"/>
                </a:solidFill>
                <a:latin typeface="Calibri"/>
                <a:ea typeface="Calibri"/>
              </a:rPr>
              <a:t>Permissions</a:t>
            </a:r>
          </a:p>
        </p:txBody>
      </p:sp>
      <p:sp>
        <p:nvSpPr>
          <p:cNvPr id="100072" name="Step3"/>
          <p:cNvSpPr/>
          <p:nvPr/>
        </p:nvSpPr>
        <p:spPr>
          <a:xfrm>
            <a:off x="5436000" y="1260000"/>
            <a:ext cx="1872000" cy="1080000"/>
          </a:xfrm>
          <a:prstGeom prst="roundRect">
            <a:avLst/>
          </a:prstGeom>
          <a:solidFill>
            <a:srgbClr val="1C7293"/>
          </a:solidFill>
          <a:ln>
            <a:noFill/>
          </a:ln>
        </p:spPr>
        <p:txBody>
          <a:bodyPr/>
          <a:lstStyle/>
          <a:p/>
        </p:txBody>
      </p:sp>
      <p:sp>
        <p:nvSpPr>
          <p:cNvPr id="100073" name="TextBox 10"/>
          <p:cNvSpPr txBox="1"/>
          <p:nvPr/>
        </p:nvSpPr>
        <p:spPr>
          <a:xfrm>
            <a:off x="5436000" y="1368000"/>
            <a:ext cx="1872000" cy="360000"/>
          </a:xfrm>
          <a:prstGeom prst="rect">
            <a:avLst/>
          </a:prstGeom>
        </p:spPr>
        <p:txBody>
          <a:bodyPr/>
          <a:lstStyle/>
          <a:p>
            <a:pPr algn="ctr"/>
            <a:r>
              <a:rPr lang="en-US" sz="1800" b="1">
                <a:solidFill>
                  <a:srgbClr val="FFFFFF"/>
                </a:solidFill>
                <a:latin typeface="Georgia"/>
                <a:ea typeface="Georgia"/>
              </a:rPr>
              <a:t>Deploy</a:t>
            </a:r>
          </a:p>
        </p:txBody>
      </p:sp>
      <p:sp>
        <p:nvSpPr>
          <p:cNvPr id="100074" name="TextBox 11"/>
          <p:cNvSpPr txBox="1"/>
          <p:nvPr/>
        </p:nvSpPr>
        <p:spPr>
          <a:xfrm>
            <a:off x="5436000" y="1728000"/>
            <a:ext cx="1872000" cy="432000"/>
          </a:xfrm>
          <a:prstGeom prst="rect">
            <a:avLst/>
          </a:prstGeom>
        </p:spPr>
        <p:txBody>
          <a:bodyPr/>
          <a:lstStyle/>
          <a:p>
            <a:pPr algn="ctr"/>
            <a:r>
              <a:rPr lang="en-US" sz="1100">
                <a:solidFill>
                  <a:srgbClr val="CADCFC"/>
                </a:solidFill>
                <a:latin typeface="Calibri"/>
                <a:ea typeface="Calibri"/>
              </a:rPr>
              <a:t>Node assignment</a:t>
            </a:r>
          </a:p>
          <a:p>
            <a:pPr algn="ctr"/>
            <a:r>
              <a:rPr lang="en-US" sz="1100">
                <a:solidFill>
                  <a:srgbClr val="CADCFC"/>
                </a:solidFill>
                <a:latin typeface="Calibri"/>
                <a:ea typeface="Calibri"/>
              </a:rPr>
              <a:t>Session start</a:t>
            </a:r>
          </a:p>
        </p:txBody>
      </p:sp>
      <p:sp>
        <p:nvSpPr>
          <p:cNvPr id="100075" name="Step4"/>
          <p:cNvSpPr/>
          <p:nvPr/>
        </p:nvSpPr>
        <p:spPr>
          <a:xfrm>
            <a:off x="7704000" y="1260000"/>
            <a:ext cx="1872000" cy="1080000"/>
          </a:xfrm>
          <a:prstGeom prst="roundRect">
            <a:avLst/>
          </a:prstGeom>
          <a:solidFill>
            <a:srgbClr val="065A82"/>
          </a:solidFill>
          <a:ln>
            <a:noFill/>
          </a:ln>
        </p:spPr>
        <p:txBody>
          <a:bodyPr/>
          <a:lstStyle/>
          <a:p/>
        </p:txBody>
      </p:sp>
      <p:sp>
        <p:nvSpPr>
          <p:cNvPr id="100076" name="TextBox 13"/>
          <p:cNvSpPr txBox="1"/>
          <p:nvPr/>
        </p:nvSpPr>
        <p:spPr>
          <a:xfrm>
            <a:off x="7704000" y="1368000"/>
            <a:ext cx="1872000" cy="360000"/>
          </a:xfrm>
          <a:prstGeom prst="rect">
            <a:avLst/>
          </a:prstGeom>
        </p:spPr>
        <p:txBody>
          <a:bodyPr/>
          <a:lstStyle/>
          <a:p>
            <a:pPr algn="ctr"/>
            <a:r>
              <a:rPr lang="en-US" sz="1800" b="1">
                <a:solidFill>
                  <a:srgbClr val="FFFFFF"/>
                </a:solidFill>
                <a:latin typeface="Georgia"/>
                <a:ea typeface="Georgia"/>
              </a:rPr>
              <a:t>Monitor</a:t>
            </a:r>
          </a:p>
        </p:txBody>
      </p:sp>
      <p:sp>
        <p:nvSpPr>
          <p:cNvPr id="100077" name="TextBox 14"/>
          <p:cNvSpPr txBox="1"/>
          <p:nvPr/>
        </p:nvSpPr>
        <p:spPr>
          <a:xfrm>
            <a:off x="7704000" y="1728000"/>
            <a:ext cx="1872000" cy="432000"/>
          </a:xfrm>
          <a:prstGeom prst="rect">
            <a:avLst/>
          </a:prstGeom>
        </p:spPr>
        <p:txBody>
          <a:bodyPr/>
          <a:lstStyle/>
          <a:p>
            <a:pPr algn="ctr"/>
            <a:r>
              <a:rPr lang="en-US" sz="1100">
                <a:solidFill>
                  <a:srgbClr val="CADCFC"/>
                </a:solidFill>
                <a:latin typeface="Calibri"/>
                <a:ea typeface="Calibri"/>
              </a:rPr>
              <a:t>Real-time status</a:t>
            </a:r>
          </a:p>
          <a:p>
            <a:pPr algn="ctr"/>
            <a:r>
              <a:rPr lang="en-US" sz="1100">
                <a:solidFill>
                  <a:srgbClr val="CADCFC"/>
                </a:solidFill>
                <a:latin typeface="Calibri"/>
                <a:ea typeface="Calibri"/>
              </a:rPr>
              <a:t>Token tracking</a:t>
            </a:r>
          </a:p>
        </p:txBody>
      </p:sp>
      <p:sp>
        <p:nvSpPr>
          <p:cNvPr id="100078" name="Step5"/>
          <p:cNvSpPr/>
          <p:nvPr/>
        </p:nvSpPr>
        <p:spPr>
          <a:xfrm>
            <a:off x="9972000" y="1260000"/>
            <a:ext cx="1080000" cy="1080000"/>
          </a:xfrm>
          <a:prstGeom prst="roundRect">
            <a:avLst/>
          </a:prstGeom>
          <a:solidFill>
            <a:srgbClr val="21295C"/>
          </a:solidFill>
          <a:ln>
            <a:noFill/>
          </a:ln>
        </p:spPr>
        <p:txBody>
          <a:bodyPr/>
          <a:lstStyle/>
          <a:p/>
        </p:txBody>
      </p:sp>
      <p:sp>
        <p:nvSpPr>
          <p:cNvPr id="100079" name="TextBox 16"/>
          <p:cNvSpPr txBox="1"/>
          <p:nvPr/>
        </p:nvSpPr>
        <p:spPr>
          <a:xfrm>
            <a:off x="9972000" y="1512000"/>
            <a:ext cx="1080000" cy="360000"/>
          </a:xfrm>
          <a:prstGeom prst="rect">
            <a:avLst/>
          </a:prstGeom>
        </p:spPr>
        <p:txBody>
          <a:bodyPr/>
          <a:lstStyle/>
          <a:p>
            <a:pPr algn="ctr"/>
            <a:r>
              <a:rPr lang="en-US" sz="1400" b="1">
                <a:solidFill>
                  <a:srgbClr val="FFFFFF"/>
                </a:solidFill>
                <a:latin typeface="Georgia"/>
                <a:ea typeface="Georgia"/>
              </a:rPr>
              <a:t>Archive</a:t>
            </a:r>
          </a:p>
        </p:txBody>
      </p:sp>
      <p:sp>
        <p:nvSpPr>
          <p:cNvPr id="100080" name="TextBox 17"/>
          <p:cNvSpPr/>
          <p:nvPr/>
        </p:nvSpPr>
        <p:spPr>
          <a:xfrm>
            <a:off x="2808000" y="1728000"/>
            <a:ext cx="324000" cy="144000"/>
          </a:xfrm>
          <a:prstGeom prst="rightArrow">
            <a:avLst/>
          </a:prstGeom>
          <a:solidFill>
            <a:srgbClr val="8899BB"/>
          </a:solidFill>
          <a:ln>
            <a:noFill/>
          </a:ln>
        </p:spPr>
        <p:txBody>
          <a:bodyPr/>
          <a:lstStyle/>
          <a:p/>
        </p:txBody>
      </p:sp>
      <p:sp>
        <p:nvSpPr>
          <p:cNvPr id="100081" name="TextBox 18"/>
          <p:cNvSpPr/>
          <p:nvPr/>
        </p:nvSpPr>
        <p:spPr>
          <a:xfrm>
            <a:off x="5076000" y="1728000"/>
            <a:ext cx="324000" cy="144000"/>
          </a:xfrm>
          <a:prstGeom prst="rightArrow">
            <a:avLst/>
          </a:prstGeom>
          <a:solidFill>
            <a:srgbClr val="8899BB"/>
          </a:solidFill>
          <a:ln>
            <a:noFill/>
          </a:ln>
        </p:spPr>
        <p:txBody>
          <a:bodyPr/>
          <a:lstStyle/>
          <a:p/>
        </p:txBody>
      </p:sp>
      <p:sp>
        <p:nvSpPr>
          <p:cNvPr id="100082" name="TextBox 19"/>
          <p:cNvSpPr/>
          <p:nvPr/>
        </p:nvSpPr>
        <p:spPr>
          <a:xfrm>
            <a:off x="7344000" y="1728000"/>
            <a:ext cx="324000" cy="144000"/>
          </a:xfrm>
          <a:prstGeom prst="rightArrow">
            <a:avLst/>
          </a:prstGeom>
          <a:solidFill>
            <a:srgbClr val="8899BB"/>
          </a:solidFill>
          <a:ln>
            <a:noFill/>
          </a:ln>
        </p:spPr>
        <p:txBody>
          <a:bodyPr/>
          <a:lstStyle/>
          <a:p/>
        </p:txBody>
      </p:sp>
      <p:sp>
        <p:nvSpPr>
          <p:cNvPr id="100083" name="TextBox 20"/>
          <p:cNvSpPr/>
          <p:nvPr/>
        </p:nvSpPr>
        <p:spPr>
          <a:xfrm>
            <a:off x="9576000" y="1728000"/>
            <a:ext cx="324000" cy="144000"/>
          </a:xfrm>
          <a:prstGeom prst="rightArrow">
            <a:avLst/>
          </a:prstGeom>
          <a:solidFill>
            <a:srgbClr val="8899BB"/>
          </a:solidFill>
          <a:ln>
            <a:noFill/>
          </a:ln>
        </p:spPr>
        <p:txBody>
          <a:bodyPr/>
          <a:lstStyle/>
          <a:p/>
        </p:txBody>
      </p:sp>
      <p:sp>
        <p:nvSpPr>
          <p:cNvPr id="100084" name="FeatureCard"/>
          <p:cNvSpPr/>
          <p:nvPr/>
        </p:nvSpPr>
        <p:spPr>
          <a:xfrm>
            <a:off x="900000" y="2808000"/>
            <a:ext cx="10080000" cy="3420000"/>
          </a:xfrm>
          <a:prstGeom prst="roundRect">
            <a:avLst/>
          </a:prstGeom>
          <a:solidFill>
            <a:srgbClr val="F2F5FA"/>
          </a:solidFill>
          <a:ln>
            <a:noFill/>
          </a:ln>
        </p:spPr>
        <p:txBody>
          <a:bodyPr/>
          <a:lstStyle/>
          <a:p/>
        </p:txBody>
      </p:sp>
      <p:sp>
        <p:nvSpPr>
          <p:cNvPr id="100085" name="TextBox 22"/>
          <p:cNvSpPr txBox="1"/>
          <p:nvPr/>
        </p:nvSpPr>
        <p:spPr>
          <a:xfrm>
            <a:off x="1260000" y="2952000"/>
            <a:ext cx="3600000" cy="360000"/>
          </a:xfrm>
          <a:prstGeom prst="rect">
            <a:avLst/>
          </a:prstGeom>
        </p:spPr>
        <p:txBody>
          <a:bodyPr/>
          <a:lstStyle/>
          <a:p>
            <a:pPr algn="l"/>
            <a:r>
              <a:rPr lang="en-US" sz="2000" b="1">
                <a:solidFill>
                  <a:srgbClr val="1E2761"/>
                </a:solidFill>
                <a:latin typeface="Georgia"/>
                <a:ea typeface="Georgia"/>
              </a:rPr>
              <a:t>Key Capabilities</a:t>
            </a:r>
          </a:p>
        </p:txBody>
      </p:sp>
      <p:sp>
        <p:nvSpPr>
          <p:cNvPr id="100086" name="TextBox 23"/>
          <p:cNvSpPr txBox="1"/>
          <p:nvPr/>
        </p:nvSpPr>
        <p:spPr>
          <a:xfrm>
            <a:off x="1260000" y="3528000"/>
            <a:ext cx="4320000" cy="360000"/>
          </a:xfrm>
          <a:prstGeom prst="rect">
            <a:avLst/>
          </a:prstGeom>
        </p:spPr>
        <p:txBody>
          <a:bodyPr/>
          <a:lstStyle/>
          <a:p>
            <a:pPr algn="l"/>
            <a:r>
              <a:rPr lang="en-US" sz="1500" b="1">
                <a:solidFill>
                  <a:srgbClr val="1E2761"/>
                </a:solidFill>
                <a:latin typeface="Calibri"/>
                <a:ea typeface="Calibri"/>
              </a:rPr>
              <a:t>Multi-Agent Collaboration  </a:t>
            </a:r>
          </a:p>
        </p:txBody>
      </p:sp>
      <p:sp>
        <p:nvSpPr>
          <p:cNvPr id="100087" name="TextBox 24"/>
          <p:cNvSpPr txBox="1"/>
          <p:nvPr/>
        </p:nvSpPr>
        <p:spPr>
          <a:xfrm>
            <a:off x="1260000" y="3780000"/>
            <a:ext cx="4320000" cy="432000"/>
          </a:xfrm>
          <a:prstGeom prst="rect">
            <a:avLst/>
          </a:prstGeom>
        </p:spPr>
        <p:txBody>
          <a:bodyPr/>
          <a:lstStyle/>
          <a:p>
            <a:pPr algn="l"/>
            <a:r>
              <a:rPr lang="en-US" sz="1300">
                <a:solidFill>
                  <a:srgbClr val="555555"/>
                </a:solidFill>
                <a:latin typeface="Calibri"/>
                <a:ea typeface="Calibri"/>
              </a:rPr>
              <a:t>Orchestrate multiple sub-agents to work in parallel or sequentially on complex tasks</a:t>
            </a:r>
          </a:p>
        </p:txBody>
      </p:sp>
      <p:sp>
        <p:nvSpPr>
          <p:cNvPr id="100088" name="TextBox 25"/>
          <p:cNvSpPr txBox="1"/>
          <p:nvPr/>
        </p:nvSpPr>
        <p:spPr>
          <a:xfrm>
            <a:off x="6120000" y="3528000"/>
            <a:ext cx="4320000" cy="360000"/>
          </a:xfrm>
          <a:prstGeom prst="rect">
            <a:avLst/>
          </a:prstGeom>
        </p:spPr>
        <p:txBody>
          <a:bodyPr/>
          <a:lstStyle/>
          <a:p>
            <a:pPr algn="l"/>
            <a:r>
              <a:rPr lang="en-US" sz="1500" b="1">
                <a:solidFill>
                  <a:srgbClr val="1E2761"/>
                </a:solidFill>
                <a:latin typeface="Calibri"/>
                <a:ea typeface="Calibri"/>
              </a:rPr>
              <a:t>Session Management  </a:t>
            </a:r>
          </a:p>
        </p:txBody>
      </p:sp>
      <p:sp>
        <p:nvSpPr>
          <p:cNvPr id="100089" name="TextBox 26"/>
          <p:cNvSpPr txBox="1"/>
          <p:nvPr/>
        </p:nvSpPr>
        <p:spPr>
          <a:xfrm>
            <a:off x="6120000" y="3780000"/>
            <a:ext cx="4320000" cy="432000"/>
          </a:xfrm>
          <a:prstGeom prst="rect">
            <a:avLst/>
          </a:prstGeom>
        </p:spPr>
        <p:txBody>
          <a:bodyPr/>
          <a:lstStyle/>
          <a:p>
            <a:pPr algn="l"/>
            <a:r>
              <a:rPr lang="en-US" sz="1300">
                <a:solidFill>
                  <a:srgbClr val="555555"/>
                </a:solidFill>
                <a:latin typeface="Calibri"/>
                <a:ea typeface="Calibri"/>
              </a:rPr>
              <a:t>Full history, message threading, context preservation, and session replay</a:t>
            </a:r>
          </a:p>
        </p:txBody>
      </p:sp>
      <p:sp>
        <p:nvSpPr>
          <p:cNvPr id="100090" name="TextBox 27"/>
          <p:cNvSpPr txBox="1"/>
          <p:nvPr/>
        </p:nvSpPr>
        <p:spPr>
          <a:xfrm>
            <a:off x="1260000" y="4392000"/>
            <a:ext cx="4320000" cy="360000"/>
          </a:xfrm>
          <a:prstGeom prst="rect">
            <a:avLst/>
          </a:prstGeom>
        </p:spPr>
        <p:txBody>
          <a:bodyPr/>
          <a:lstStyle/>
          <a:p>
            <a:pPr algn="l"/>
            <a:r>
              <a:rPr lang="en-US" sz="1500" b="1">
                <a:solidFill>
                  <a:srgbClr val="1E2761"/>
                </a:solidFill>
                <a:latin typeface="Calibri"/>
                <a:ea typeface="Calibri"/>
              </a:rPr>
              <a:t>Token &amp; Cost Tracking  </a:t>
            </a:r>
          </a:p>
        </p:txBody>
      </p:sp>
      <p:sp>
        <p:nvSpPr>
          <p:cNvPr id="100091" name="TextBox 28"/>
          <p:cNvSpPr txBox="1"/>
          <p:nvPr/>
        </p:nvSpPr>
        <p:spPr>
          <a:xfrm>
            <a:off x="1260000" y="4644000"/>
            <a:ext cx="4320000" cy="432000"/>
          </a:xfrm>
          <a:prstGeom prst="rect">
            <a:avLst/>
          </a:prstGeom>
        </p:spPr>
        <p:txBody>
          <a:bodyPr/>
          <a:lstStyle/>
          <a:p>
            <a:pPr algn="l"/>
            <a:r>
              <a:rPr lang="en-US" sz="1300">
                <a:solidFill>
                  <a:srgbClr val="555555"/>
                </a:solidFill>
                <a:latin typeface="Calibri"/>
                <a:ea typeface="Calibri"/>
              </a:rPr>
              <a:t>Real-time token consumption monitoring, budget alerts, and cost optimization</a:t>
            </a:r>
          </a:p>
        </p:txBody>
      </p:sp>
      <p:sp>
        <p:nvSpPr>
          <p:cNvPr id="100092" name="TextBox 29"/>
          <p:cNvSpPr txBox="1"/>
          <p:nvPr/>
        </p:nvSpPr>
        <p:spPr>
          <a:xfrm>
            <a:off x="6120000" y="4392000"/>
            <a:ext cx="4320000" cy="360000"/>
          </a:xfrm>
          <a:prstGeom prst="rect">
            <a:avLst/>
          </a:prstGeom>
        </p:spPr>
        <p:txBody>
          <a:bodyPr/>
          <a:lstStyle/>
          <a:p>
            <a:pPr algn="l"/>
            <a:r>
              <a:rPr lang="en-US" sz="1500" b="1">
                <a:solidFill>
                  <a:srgbClr val="1E2761"/>
                </a:solidFill>
                <a:latin typeface="Calibri"/>
                <a:ea typeface="Calibri"/>
              </a:rPr>
              <a:t>Skill System  </a:t>
            </a:r>
          </a:p>
        </p:txBody>
      </p:sp>
      <p:sp>
        <p:nvSpPr>
          <p:cNvPr id="100093" name="TextBox 30"/>
          <p:cNvSpPr txBox="1"/>
          <p:nvPr/>
        </p:nvSpPr>
        <p:spPr>
          <a:xfrm>
            <a:off x="6120000" y="4644000"/>
            <a:ext cx="4320000" cy="432000"/>
          </a:xfrm>
          <a:prstGeom prst="rect">
            <a:avLst/>
          </a:prstGeom>
        </p:spPr>
        <p:txBody>
          <a:bodyPr/>
          <a:lstStyle/>
          <a:p>
            <a:pPr algn="l"/>
            <a:r>
              <a:rPr lang="en-US" sz="1300">
                <a:solidFill>
                  <a:srgbClr val="555555"/>
                </a:solidFill>
                <a:latin typeface="Calibri"/>
                <a:ea typeface="Calibri"/>
              </a:rPr>
              <a:t>Pluggable skill definitions with M:N agent associations for extensibility</a:t>
            </a:r>
          </a:p>
        </p:txBody>
      </p:sp>
      <p:sp>
        <p:nvSpPr>
          <p:cNvPr id="100094" name="TextBox 31"/>
          <p:cNvSpPr txBox="1"/>
          <p:nvPr/>
        </p:nvSpPr>
        <p:spPr>
          <a:xfrm>
            <a:off x="1260000" y="5256000"/>
            <a:ext cx="4320000" cy="360000"/>
          </a:xfrm>
          <a:prstGeom prst="rect">
            <a:avLst/>
          </a:prstGeom>
        </p:spPr>
        <p:txBody>
          <a:bodyPr/>
          <a:lstStyle/>
          <a:p>
            <a:pPr algn="l"/>
            <a:r>
              <a:rPr lang="en-US" sz="1500" b="1">
                <a:solidFill>
                  <a:srgbClr val="1E2761"/>
                </a:solidFill>
                <a:latin typeface="Calibri"/>
                <a:ea typeface="Calibri"/>
              </a:rPr>
              <a:t>Cron Job Engine  </a:t>
            </a:r>
          </a:p>
        </p:txBody>
      </p:sp>
      <p:sp>
        <p:nvSpPr>
          <p:cNvPr id="100095" name="TextBox 32"/>
          <p:cNvSpPr txBox="1"/>
          <p:nvPr/>
        </p:nvSpPr>
        <p:spPr>
          <a:xfrm>
            <a:off x="1260000" y="5508000"/>
            <a:ext cx="4320000" cy="432000"/>
          </a:xfrm>
          <a:prstGeom prst="rect">
            <a:avLst/>
          </a:prstGeom>
        </p:spPr>
        <p:txBody>
          <a:bodyPr/>
          <a:lstStyle/>
          <a:p>
            <a:pPr algn="l"/>
            <a:r>
              <a:rPr lang="en-US" sz="1300">
                <a:solidFill>
                  <a:srgbClr val="555555"/>
                </a:solidFill>
                <a:latin typeface="Calibri"/>
                <a:ea typeface="Calibri"/>
              </a:rPr>
              <a:t>Scheduled agent tasks with retry logic, execution history, and failure alerts</a:t>
            </a:r>
          </a:p>
        </p:txBody>
      </p:sp>
      <p:sp>
        <p:nvSpPr>
          <p:cNvPr id="100096" name="TextBox 33"/>
          <p:cNvSpPr txBox="1"/>
          <p:nvPr/>
        </p:nvSpPr>
        <p:spPr>
          <a:xfrm>
            <a:off x="6120000" y="5256000"/>
            <a:ext cx="4320000" cy="360000"/>
          </a:xfrm>
          <a:prstGeom prst="rect">
            <a:avLst/>
          </a:prstGeom>
        </p:spPr>
        <p:txBody>
          <a:bodyPr/>
          <a:lstStyle/>
          <a:p>
            <a:pPr algn="l"/>
            <a:r>
              <a:rPr lang="en-US" sz="1500" b="1">
                <a:solidFill>
                  <a:srgbClr val="1E2761"/>
                </a:solidFill>
                <a:latin typeface="Calibri"/>
                <a:ea typeface="Calibri"/>
              </a:rPr>
              <a:t>WeChat Push Notifications  </a:t>
            </a:r>
          </a:p>
        </p:txBody>
      </p:sp>
      <p:sp>
        <p:nvSpPr>
          <p:cNvPr id="100097" name="TextBox 34"/>
          <p:cNvSpPr txBox="1"/>
          <p:nvPr/>
        </p:nvSpPr>
        <p:spPr>
          <a:xfrm>
            <a:off x="6120000" y="5508000"/>
            <a:ext cx="4320000" cy="432000"/>
          </a:xfrm>
          <a:prstGeom prst="rect">
            <a:avLst/>
          </a:prstGeom>
        </p:spPr>
        <p:txBody>
          <a:bodyPr/>
          <a:lstStyle/>
          <a:p>
            <a:pPr algn="l"/>
            <a:r>
              <a:rPr lang="en-US" sz="1300">
                <a:solidFill>
                  <a:srgbClr val="555555"/>
                </a:solidFill>
                <a:latin typeface="Calibri"/>
                <a:ea typeface="Calibri"/>
              </a:rPr>
              <a:t>Template messages for task completion, anomalies, token alerts, and daily reports</a:t>
            </a:r>
          </a:p>
        </p:txBody>
      </p:sp>
    </p:spTree>
  </p:cSld>
</p:sld>
</file>

<file path=ppt/slides/slide9.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98" name="AccentBar"/>
          <p:cNvSpPr/>
          <p:nvPr/>
        </p:nvSpPr>
        <p:spPr>
          <a:xfrm>
            <a:off x="0" y="0"/>
            <a:ext cx="144000" cy="6858000"/>
          </a:xfrm>
          <a:prstGeom prst="rect">
            <a:avLst/>
          </a:prstGeom>
          <a:solidFill>
            <a:srgbClr val="1E2761"/>
          </a:solidFill>
          <a:ln>
            <a:noFill/>
          </a:ln>
        </p:spPr>
        <p:txBody>
          <a:bodyPr/>
          <a:lstStyle/>
          <a:p/>
        </p:txBody>
      </p:sp>
      <p:sp>
        <p:nvSpPr>
          <p:cNvPr id="100099" name="Title"/>
          <p:cNvSpPr txBox="1"/>
          <p:nvPr/>
        </p:nvSpPr>
        <p:spPr>
          <a:xfrm>
            <a:off x="900000" y="288000"/>
            <a:ext cx="10080000" cy="576000"/>
          </a:xfrm>
          <a:prstGeom prst="rect">
            <a:avLst/>
          </a:prstGeom>
        </p:spPr>
        <p:txBody>
          <a:bodyPr/>
          <a:lstStyle/>
          <a:p>
            <a:pPr algn="l"/>
            <a:r>
              <a:rPr lang="en-US" sz="3600" b="1">
                <a:solidFill>
                  <a:srgbClr val="1E2761"/>
                </a:solidFill>
                <a:latin typeface="Georgia"/>
                <a:ea typeface="Georgia"/>
              </a:rPr>
              <a:t>办公室场景可视化 — PixiJS WebGL</a:t>
            </a:r>
          </a:p>
        </p:txBody>
      </p:sp>
      <p:sp>
        <p:nvSpPr>
          <p:cNvPr id="100100" name="HeroDesc"/>
          <p:cNvSpPr/>
          <p:nvPr/>
        </p:nvSpPr>
        <p:spPr>
          <a:xfrm>
            <a:off x="900000" y="1080000"/>
            <a:ext cx="10080000" cy="1080000"/>
          </a:xfrm>
          <a:prstGeom prst="roundRect">
            <a:avLst/>
          </a:prstGeom>
          <a:solidFill>
            <a:srgbClr val="1E2761"/>
          </a:solidFill>
          <a:ln>
            <a:noFill/>
          </a:ln>
        </p:spPr>
        <p:txBody>
          <a:bodyPr/>
          <a:lstStyle/>
          <a:p/>
        </p:txBody>
      </p:sp>
      <p:sp>
        <p:nvSpPr>
          <p:cNvPr id="100101" name="TextBox 4"/>
          <p:cNvSpPr txBox="1"/>
          <p:nvPr/>
        </p:nvSpPr>
        <p:spPr>
          <a:xfrm>
            <a:off x="1260000" y="1188000"/>
            <a:ext cx="3600000" cy="288000"/>
          </a:xfrm>
          <a:prstGeom prst="rect">
            <a:avLst/>
          </a:prstGeom>
        </p:spPr>
        <p:txBody>
          <a:bodyPr/>
          <a:lstStyle/>
          <a:p>
            <a:pPr algn="l"/>
            <a:r>
              <a:rPr lang="en-US" sz="1600" b="1">
                <a:solidFill>
                  <a:srgbClr val="CADCFC"/>
                </a:solidFill>
                <a:latin typeface="Georgia"/>
                <a:ea typeface="Georgia"/>
              </a:rPr>
              <a:t>Unique Selling Point</a:t>
            </a:r>
          </a:p>
        </p:txBody>
      </p:sp>
      <p:sp>
        <p:nvSpPr>
          <p:cNvPr id="100102" name="TextBox 5"/>
          <p:cNvSpPr txBox="1"/>
          <p:nvPr/>
        </p:nvSpPr>
        <p:spPr>
          <a:xfrm>
            <a:off x="1260000" y="1512000"/>
            <a:ext cx="9360000" cy="432000"/>
          </a:xfrm>
          <a:prstGeom prst="rect">
            <a:avLst/>
          </a:prstGeom>
        </p:spPr>
        <p:txBody>
          <a:bodyPr/>
          <a:lstStyle/>
          <a:p>
            <a:pPr algn="l"/>
            <a:r>
              <a:rPr lang="en-US" sz="1600">
                <a:solidFill>
                  <a:srgbClr val="FFFFFF"/>
                </a:solidFill>
                <a:latin typeface="Calibri"/>
                <a:ea typeface="Calibri"/>
              </a:rPr>
              <a:t>16+ 独立角色动画  |  WebGL 2D 渲染  |  实时状态同步  |  办公室主题拟人化</a:t>
            </a:r>
          </a:p>
        </p:txBody>
      </p:sp>
      <p:sp>
        <p:nvSpPr>
          <p:cNvPr id="100103" name="Card1"/>
          <p:cNvSpPr/>
          <p:nvPr/>
        </p:nvSpPr>
        <p:spPr>
          <a:xfrm>
            <a:off x="900000" y="2520000"/>
            <a:ext cx="3060000" cy="2520000"/>
          </a:xfrm>
          <a:prstGeom prst="roundRect">
            <a:avLst/>
          </a:prstGeom>
          <a:solidFill>
            <a:srgbClr val="F2F5FA"/>
          </a:solidFill>
          <a:ln>
            <a:noFill/>
          </a:ln>
        </p:spPr>
        <p:txBody>
          <a:bodyPr/>
          <a:lstStyle/>
          <a:p/>
        </p:txBody>
      </p:sp>
      <p:sp>
        <p:nvSpPr>
          <p:cNvPr id="100104" name="TextBox 7"/>
          <p:cNvSpPr/>
          <p:nvPr/>
        </p:nvSpPr>
        <p:spPr>
          <a:xfrm>
            <a:off x="1890000" y="2700000"/>
            <a:ext cx="1080000" cy="1080000"/>
          </a:xfrm>
          <a:prstGeom prst="ellipse">
            <a:avLst/>
          </a:prstGeom>
          <a:solidFill>
            <a:srgbClr val="1E2761"/>
          </a:solidFill>
          <a:ln>
            <a:noFill/>
          </a:ln>
        </p:spPr>
        <p:txBody>
          <a:bodyPr/>
          <a:lstStyle/>
          <a:p/>
        </p:txBody>
      </p:sp>
      <p:sp>
        <p:nvSpPr>
          <p:cNvPr id="100105" name="TextBox 8"/>
          <p:cNvSpPr txBox="1"/>
          <p:nvPr/>
        </p:nvSpPr>
        <p:spPr>
          <a:xfrm>
            <a:off x="1890000" y="2700000"/>
            <a:ext cx="1080000" cy="1080000"/>
          </a:xfrm>
          <a:prstGeom prst="rect">
            <a:avLst/>
          </a:prstGeom>
        </p:spPr>
        <p:txBody>
          <a:bodyPr/>
          <a:lstStyle/>
          <a:p>
            <a:pPr algn="ctr"/>
            <a:r>
              <a:rPr lang="en-US" sz="3200">
                <a:latin typeface="Calibri"/>
                <a:ea typeface="Calibri"/>
              </a:rPr>
              <a:t>🎯</a:t>
            </a:r>
          </a:p>
        </p:txBody>
      </p:sp>
      <p:sp>
        <p:nvSpPr>
          <p:cNvPr id="100106" name="TextBox 9"/>
          <p:cNvSpPr txBox="1"/>
          <p:nvPr/>
        </p:nvSpPr>
        <p:spPr>
          <a:xfrm>
            <a:off x="1260000" y="3960000"/>
            <a:ext cx="2340000" cy="288000"/>
          </a:xfrm>
          <a:prstGeom prst="rect">
            <a:avLst/>
          </a:prstGeom>
        </p:spPr>
        <p:txBody>
          <a:bodyPr/>
          <a:lstStyle/>
          <a:p>
            <a:pPr algn="ctr"/>
            <a:r>
              <a:rPr lang="en-US" sz="1500" b="1">
                <a:solidFill>
                  <a:srgbClr val="1E2761"/>
                </a:solidFill>
                <a:latin typeface="Georgia"/>
                <a:ea typeface="Georgia"/>
              </a:rPr>
              <a:t>Agent Avatars</a:t>
            </a:r>
          </a:p>
        </p:txBody>
      </p:sp>
      <p:sp>
        <p:nvSpPr>
          <p:cNvPr id="100107" name="TextBox 10"/>
          <p:cNvSpPr txBox="1"/>
          <p:nvPr/>
        </p:nvSpPr>
        <p:spPr>
          <a:xfrm>
            <a:off x="1260000" y="4212000"/>
            <a:ext cx="2340000" cy="792000"/>
          </a:xfrm>
          <a:prstGeom prst="rect">
            <a:avLst/>
          </a:prstGeom>
        </p:spPr>
        <p:txBody>
          <a:bodyPr/>
          <a:lstStyle/>
          <a:p>
            <a:pPr algn="ctr"/>
            <a:r>
              <a:rPr lang="en-US" sz="1200">
                <a:solidFill>
                  <a:srgbClr val="555555"/>
                </a:solidFill>
                <a:latin typeface="Calibri"/>
                <a:ea typeface="Calibri"/>
              </a:rPr>
              <a:t>Each agent rendered as an office character with idle, working, and alert animations</a:t>
            </a:r>
          </a:p>
        </p:txBody>
      </p:sp>
      <p:sp>
        <p:nvSpPr>
          <p:cNvPr id="100108" name="Card2"/>
          <p:cNvSpPr/>
          <p:nvPr/>
        </p:nvSpPr>
        <p:spPr>
          <a:xfrm>
            <a:off x="4320000" y="2520000"/>
            <a:ext cx="3060000" cy="2520000"/>
          </a:xfrm>
          <a:prstGeom prst="roundRect">
            <a:avLst/>
          </a:prstGeom>
          <a:solidFill>
            <a:srgbClr val="F2F5FA"/>
          </a:solidFill>
          <a:ln>
            <a:noFill/>
          </a:ln>
        </p:spPr>
        <p:txBody>
          <a:bodyPr/>
          <a:lstStyle/>
          <a:p/>
        </p:txBody>
      </p:sp>
      <p:sp>
        <p:nvSpPr>
          <p:cNvPr id="100109" name="TextBox 12"/>
          <p:cNvSpPr/>
          <p:nvPr/>
        </p:nvSpPr>
        <p:spPr>
          <a:xfrm>
            <a:off x="5310000" y="2700000"/>
            <a:ext cx="1080000" cy="1080000"/>
          </a:xfrm>
          <a:prstGeom prst="ellipse">
            <a:avLst/>
          </a:prstGeom>
          <a:solidFill>
            <a:srgbClr val="065A82"/>
          </a:solidFill>
          <a:ln>
            <a:noFill/>
          </a:ln>
        </p:spPr>
        <p:txBody>
          <a:bodyPr/>
          <a:lstStyle/>
          <a:p/>
        </p:txBody>
      </p:sp>
      <p:sp>
        <p:nvSpPr>
          <p:cNvPr id="100110" name="TextBox 13"/>
          <p:cNvSpPr txBox="1"/>
          <p:nvPr/>
        </p:nvSpPr>
        <p:spPr>
          <a:xfrm>
            <a:off x="5310000" y="2700000"/>
            <a:ext cx="1080000" cy="1080000"/>
          </a:xfrm>
          <a:prstGeom prst="rect">
            <a:avLst/>
          </a:prstGeom>
        </p:spPr>
        <p:txBody>
          <a:bodyPr/>
          <a:lstStyle/>
          <a:p>
            <a:pPr algn="ctr"/>
            <a:r>
              <a:rPr lang="en-US" sz="3200">
                <a:latin typeface="Calibri"/>
                <a:ea typeface="Calibri"/>
              </a:rPr>
              <a:t>📊</a:t>
            </a:r>
          </a:p>
        </p:txBody>
      </p:sp>
      <p:sp>
        <p:nvSpPr>
          <p:cNvPr id="100111" name="TextBox 14"/>
          <p:cNvSpPr txBox="1"/>
          <p:nvPr/>
        </p:nvSpPr>
        <p:spPr>
          <a:xfrm>
            <a:off x="4680000" y="3960000"/>
            <a:ext cx="2340000" cy="288000"/>
          </a:xfrm>
          <a:prstGeom prst="rect">
            <a:avLst/>
          </a:prstGeom>
        </p:spPr>
        <p:txBody>
          <a:bodyPr/>
          <a:lstStyle/>
          <a:p>
            <a:pPr algn="ctr"/>
            <a:r>
              <a:rPr lang="en-US" sz="1500" b="1">
                <a:solidFill>
                  <a:srgbClr val="1E2761"/>
                </a:solidFill>
                <a:latin typeface="Georgia"/>
                <a:ea typeface="Georgia"/>
              </a:rPr>
              <a:t>Status Dashboard</a:t>
            </a:r>
          </a:p>
        </p:txBody>
      </p:sp>
      <p:sp>
        <p:nvSpPr>
          <p:cNvPr id="100112" name="TextBox 15"/>
          <p:cNvSpPr txBox="1"/>
          <p:nvPr/>
        </p:nvSpPr>
        <p:spPr>
          <a:xfrm>
            <a:off x="4680000" y="4212000"/>
            <a:ext cx="2340000" cy="792000"/>
          </a:xfrm>
          <a:prstGeom prst="rect">
            <a:avLst/>
          </a:prstGeom>
        </p:spPr>
        <p:txBody>
          <a:bodyPr/>
          <a:lstStyle/>
          <a:p>
            <a:pPr algn="ctr"/>
            <a:r>
              <a:rPr lang="en-US" sz="1200">
                <a:solidFill>
                  <a:srgbClr val="555555"/>
                </a:solidFill>
                <a:latin typeface="Calibri"/>
                <a:ea typeface="Calibri"/>
              </a:rPr>
              <a:t>CPU, memory, token usage, and task progress displayed as office props and meters</a:t>
            </a:r>
          </a:p>
        </p:txBody>
      </p:sp>
      <p:sp>
        <p:nvSpPr>
          <p:cNvPr id="100113" name="Card3"/>
          <p:cNvSpPr/>
          <p:nvPr/>
        </p:nvSpPr>
        <p:spPr>
          <a:xfrm>
            <a:off x="7740000" y="2520000"/>
            <a:ext cx="3060000" cy="2520000"/>
          </a:xfrm>
          <a:prstGeom prst="roundRect">
            <a:avLst/>
          </a:prstGeom>
          <a:solidFill>
            <a:srgbClr val="F2F5FA"/>
          </a:solidFill>
          <a:ln>
            <a:noFill/>
          </a:ln>
        </p:spPr>
        <p:txBody>
          <a:bodyPr/>
          <a:lstStyle/>
          <a:p/>
        </p:txBody>
      </p:sp>
      <p:sp>
        <p:nvSpPr>
          <p:cNvPr id="100114" name="TextBox 17"/>
          <p:cNvSpPr/>
          <p:nvPr/>
        </p:nvSpPr>
        <p:spPr>
          <a:xfrm>
            <a:off x="8730000" y="2700000"/>
            <a:ext cx="1080000" cy="1080000"/>
          </a:xfrm>
          <a:prstGeom prst="ellipse">
            <a:avLst/>
          </a:prstGeom>
          <a:solidFill>
            <a:srgbClr val="1C7293"/>
          </a:solidFill>
          <a:ln>
            <a:noFill/>
          </a:ln>
        </p:spPr>
        <p:txBody>
          <a:bodyPr/>
          <a:lstStyle/>
          <a:p/>
        </p:txBody>
      </p:sp>
      <p:sp>
        <p:nvSpPr>
          <p:cNvPr id="100115" name="TextBox 18"/>
          <p:cNvSpPr txBox="1"/>
          <p:nvPr/>
        </p:nvSpPr>
        <p:spPr>
          <a:xfrm>
            <a:off x="8730000" y="2700000"/>
            <a:ext cx="1080000" cy="1080000"/>
          </a:xfrm>
          <a:prstGeom prst="rect">
            <a:avLst/>
          </a:prstGeom>
        </p:spPr>
        <p:txBody>
          <a:bodyPr/>
          <a:lstStyle/>
          <a:p>
            <a:pPr algn="ctr"/>
            <a:r>
              <a:rPr lang="en-US" sz="3200">
                <a:latin typeface="Calibri"/>
                <a:ea typeface="Calibri"/>
              </a:rPr>
              <a:t>🔔</a:t>
            </a:r>
          </a:p>
        </p:txBody>
      </p:sp>
      <p:sp>
        <p:nvSpPr>
          <p:cNvPr id="100116" name="TextBox 19"/>
          <p:cNvSpPr txBox="1"/>
          <p:nvPr/>
        </p:nvSpPr>
        <p:spPr>
          <a:xfrm>
            <a:off x="8100000" y="3960000"/>
            <a:ext cx="2340000" cy="288000"/>
          </a:xfrm>
          <a:prstGeom prst="rect">
            <a:avLst/>
          </a:prstGeom>
        </p:spPr>
        <p:txBody>
          <a:bodyPr/>
          <a:lstStyle/>
          <a:p>
            <a:pPr algn="ctr"/>
            <a:r>
              <a:rPr lang="en-US" sz="1500" b="1">
                <a:solidFill>
                  <a:srgbClr val="1E2761"/>
                </a:solidFill>
                <a:latin typeface="Georgia"/>
                <a:ea typeface="Georgia"/>
              </a:rPr>
              <a:t>Alert System</a:t>
            </a:r>
          </a:p>
        </p:txBody>
      </p:sp>
      <p:sp>
        <p:nvSpPr>
          <p:cNvPr id="100117" name="TextBox 20"/>
          <p:cNvSpPr txBox="1"/>
          <p:nvPr/>
        </p:nvSpPr>
        <p:spPr>
          <a:xfrm>
            <a:off x="8100000" y="4212000"/>
            <a:ext cx="2340000" cy="792000"/>
          </a:xfrm>
          <a:prstGeom prst="rect">
            <a:avLst/>
          </a:prstGeom>
        </p:spPr>
        <p:txBody>
          <a:bodyPr/>
          <a:lstStyle/>
          <a:p>
            <a:pPr algn="ctr"/>
            <a:r>
              <a:rPr lang="en-US" sz="1200">
                <a:solidFill>
                  <a:srgbClr val="555555"/>
                </a:solidFill>
                <a:latin typeface="Calibri"/>
                <a:ea typeface="Calibri"/>
              </a:rPr>
              <a:t>Visual alerts for errors, token limits, and task completion via character state changes</a:t>
            </a:r>
          </a:p>
        </p:txBody>
      </p:sp>
      <p:sp>
        <p:nvSpPr>
          <p:cNvPr id="100118" name="TextBox 21"/>
          <p:cNvSpPr txBox="1"/>
          <p:nvPr/>
        </p:nvSpPr>
        <p:spPr>
          <a:xfrm>
            <a:off x="900000" y="5580000"/>
            <a:ext cx="10080000" cy="360000"/>
          </a:xfrm>
          <a:prstGeom prst="rect">
            <a:avLst/>
          </a:prstGeom>
        </p:spPr>
        <p:txBody>
          <a:bodyPr/>
          <a:lstStyle/>
          <a:p>
            <a:pPr algn="l"/>
            <a:r>
              <a:rPr lang="en-US" sz="1800" b="1">
                <a:solidFill>
                  <a:srgbClr val="1E2761"/>
                </a:solidFill>
                <a:latin typeface="Georgia"/>
                <a:ea typeface="Georgia"/>
              </a:rPr>
              <a:t>Tech Stack</a:t>
            </a:r>
          </a:p>
        </p:txBody>
      </p:sp>
      <p:sp>
        <p:nvSpPr>
          <p:cNvPr id="100119" name="TextBox 22"/>
          <p:cNvSpPr/>
          <p:nvPr/>
        </p:nvSpPr>
        <p:spPr>
          <a:xfrm>
            <a:off x="1260000" y="5940000"/>
            <a:ext cx="2160000" cy="432000"/>
          </a:xfrm>
          <a:prstGeom prst="roundRect">
            <a:avLst/>
          </a:prstGeom>
          <a:solidFill>
            <a:srgbClr val="F2F5FA"/>
          </a:solidFill>
          <a:ln>
            <a:noFill/>
          </a:ln>
        </p:spPr>
        <p:txBody>
          <a:bodyPr/>
          <a:lstStyle/>
          <a:p>
            <a:pPr algn="ctr"/>
            <a:r>
              <a:rPr lang="en-US" sz="1400" b="1">
                <a:solidFill>
                  <a:srgbClr val="1E2761"/>
                </a:solidFill>
                <a:latin typeface="Consolas"/>
                <a:ea typeface="Consolas"/>
              </a:rPr>
              <a:t>PixiJS 8 (WebGL)</a:t>
            </a:r>
          </a:p>
        </p:txBody>
      </p:sp>
      <p:sp>
        <p:nvSpPr>
          <p:cNvPr id="100120" name="TextBox 23"/>
          <p:cNvSpPr/>
          <p:nvPr/>
        </p:nvSpPr>
        <p:spPr>
          <a:xfrm>
            <a:off x="3672000" y="5940000"/>
            <a:ext cx="2160000" cy="432000"/>
          </a:xfrm>
          <a:prstGeom prst="roundRect">
            <a:avLst/>
          </a:prstGeom>
          <a:solidFill>
            <a:srgbClr val="F2F5FA"/>
          </a:solidFill>
          <a:ln>
            <a:noFill/>
          </a:ln>
        </p:spPr>
        <p:txBody>
          <a:bodyPr/>
          <a:lstStyle/>
          <a:p>
            <a:pPr algn="ctr"/>
            <a:r>
              <a:rPr lang="en-US" sz="1400" b="1">
                <a:solidFill>
                  <a:srgbClr val="1E2761"/>
                </a:solidFill>
                <a:latin typeface="Consolas"/>
                <a:ea typeface="Consolas"/>
              </a:rPr>
              <a:t>WebSocket Real-time</a:t>
            </a:r>
          </a:p>
        </p:txBody>
      </p:sp>
      <p:sp>
        <p:nvSpPr>
          <p:cNvPr id="100121" name="TextBox 24"/>
          <p:cNvSpPr/>
          <p:nvPr/>
        </p:nvSpPr>
        <p:spPr>
          <a:xfrm>
            <a:off x="6084000" y="5940000"/>
            <a:ext cx="2160000" cy="432000"/>
          </a:xfrm>
          <a:prstGeom prst="roundRect">
            <a:avLst/>
          </a:prstGeom>
          <a:solidFill>
            <a:srgbClr val="F2F5FA"/>
          </a:solidFill>
          <a:ln>
            <a:noFill/>
          </a:ln>
        </p:spPr>
        <p:txBody>
          <a:bodyPr/>
          <a:lstStyle/>
          <a:p>
            <a:pPr algn="ctr"/>
            <a:r>
              <a:rPr lang="en-US" sz="1400" b="1">
                <a:solidFill>
                  <a:srgbClr val="1E2761"/>
                </a:solidFill>
                <a:latin typeface="Consolas"/>
                <a:ea typeface="Consolas"/>
              </a:rPr>
              <a:t>Redis pub/sub</a:t>
            </a:r>
          </a:p>
        </p:txBody>
      </p:sp>
      <p:sp>
        <p:nvSpPr>
          <p:cNvPr id="100122" name="TextBox 25"/>
          <p:cNvSpPr/>
          <p:nvPr/>
        </p:nvSpPr>
        <p:spPr>
          <a:xfrm>
            <a:off x="8496000" y="5940000"/>
            <a:ext cx="2160000" cy="432000"/>
          </a:xfrm>
          <a:prstGeom prst="roundRect">
            <a:avLst/>
          </a:prstGeom>
          <a:solidFill>
            <a:srgbClr val="F2F5FA"/>
          </a:solidFill>
          <a:ln>
            <a:noFill/>
          </a:ln>
        </p:spPr>
        <p:txBody>
          <a:bodyPr/>
          <a:lstStyle/>
          <a:p>
            <a:pPr algn="ctr"/>
            <a:r>
              <a:rPr lang="en-US" sz="1400" b="1">
                <a:solidFill>
                  <a:srgbClr val="1E2761"/>
                </a:solidFill>
                <a:latin typeface="Consolas"/>
                <a:ea typeface="Consolas"/>
              </a:rPr>
              <a:t>60 FPS Animation</a:t>
            </a:r>
          </a:p>
        </p:txBody>
      </p:sp>
    </p:spTree>
  </p:cSld>
</p:sld>
</file>

<file path=ppt/slides/slide10.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123" name="AccentBar"/>
          <p:cNvSpPr/>
          <p:nvPr/>
        </p:nvSpPr>
        <p:spPr>
          <a:xfrm>
            <a:off x="0" y="0"/>
            <a:ext cx="144000" cy="6858000"/>
          </a:xfrm>
          <a:prstGeom prst="rect">
            <a:avLst/>
          </a:prstGeom>
          <a:solidFill>
            <a:srgbClr val="1E2761"/>
          </a:solidFill>
          <a:ln>
            <a:noFill/>
          </a:ln>
        </p:spPr>
        <p:txBody>
          <a:bodyPr/>
          <a:lstStyle/>
          <a:p/>
        </p:txBody>
      </p:sp>
      <p:sp>
        <p:nvSpPr>
          <p:cNvPr id="100124" name="Title"/>
          <p:cNvSpPr txBox="1"/>
          <p:nvPr/>
        </p:nvSpPr>
        <p:spPr>
          <a:xfrm>
            <a:off x="900000" y="288000"/>
            <a:ext cx="10080000" cy="576000"/>
          </a:xfrm>
          <a:prstGeom prst="rect">
            <a:avLst/>
          </a:prstGeom>
        </p:spPr>
        <p:txBody>
          <a:bodyPr/>
          <a:lstStyle/>
          <a:p>
            <a:pPr algn="l"/>
            <a:r>
              <a:rPr lang="en-US" sz="3600" b="1">
                <a:solidFill>
                  <a:srgbClr val="1E2761"/>
                </a:solidFill>
                <a:latin typeface="Georgia"/>
                <a:ea typeface="Georgia"/>
              </a:rPr>
              <a:t>模块结构与文件布局</a:t>
            </a:r>
          </a:p>
        </p:txBody>
      </p:sp>
      <p:sp>
        <p:nvSpPr>
          <p:cNvPr id="100125" name="TreeBox"/>
          <p:cNvSpPr/>
          <p:nvPr/>
        </p:nvSpPr>
        <p:spPr>
          <a:xfrm>
            <a:off x="900000" y="1080000"/>
            <a:ext cx="6120000" cy="5220000"/>
          </a:xfrm>
          <a:prstGeom prst="roundRect">
            <a:avLst/>
          </a:prstGeom>
          <a:solidFill>
            <a:srgbClr val="1E2761"/>
          </a:solidFill>
          <a:ln>
            <a:noFill/>
          </a:ln>
        </p:spPr>
        <p:txBody>
          <a:bodyPr/>
          <a:lstStyle/>
          <a:p/>
        </p:txBody>
      </p:sp>
      <p:sp>
        <p:nvSpPr>
          <p:cNvPr id="100126" name="TextBox 4"/>
          <p:cNvSpPr txBox="1"/>
          <p:nvPr/>
        </p:nvSpPr>
        <p:spPr>
          <a:xfrm>
            <a:off x="1152000" y="1260000"/>
            <a:ext cx="5580000" cy="4860000"/>
          </a:xfrm>
          <a:prstGeom prst="rect">
            <a:avLst/>
          </a:prstGeom>
        </p:spPr>
        <p:txBody>
          <a:bodyPr/>
          <a:lstStyle/>
          <a:p>
            <a:pPr algn="l"/>
            <a:r>
              <a:rPr lang="en-US" sz="1100">
                <a:solidFill>
                  <a:srgbClr val="CADCFC"/>
                </a:solidFill>
                <a:latin typeface="Consolas"/>
                <a:ea typeface="Consolas"/>
              </a:rPr>
              <a:t>backend/</a:t>
            </a:r>
          </a:p>
          <a:p>
            <a:pPr algn="l"/>
            <a:r>
              <a:rPr lang="en-US" sz="1100">
                <a:solidFill>
                  <a:srgbClr val="CADCFC"/>
                </a:solidFill>
                <a:latin typeface="Consolas"/>
                <a:ea typeface="Consolas"/>
              </a:rPr>
              <a:t>├── main.py              FastAPI entry</a:t>
            </a:r>
          </a:p>
          <a:p>
            <a:pPr algn="l"/>
            <a:r>
              <a:rPr lang="en-US" sz="1100">
                <a:solidFill>
                  <a:srgbClr val="CADCFC"/>
                </a:solidFill>
                <a:latin typeface="Consolas"/>
                <a:ea typeface="Consolas"/>
              </a:rPr>
              <a:t>├── config.py             Pydantic settings</a:t>
            </a:r>
          </a:p>
          <a:p>
            <a:pPr algn="l"/>
            <a:r>
              <a:rPr lang="en-US" sz="1100">
                <a:solidFill>
                  <a:srgbClr val="CADCFC"/>
                </a:solidFill>
                <a:latin typeface="Consolas"/>
                <a:ea typeface="Consolas"/>
              </a:rPr>
              <a:t>├── database.py           Async SQLAlchemy</a:t>
            </a:r>
          </a:p>
          <a:p>
            <a:pPr algn="l"/>
            <a:r>
              <a:rPr lang="en-US" sz="1100">
                <a:solidFill>
                  <a:srgbClr val="CADCFC"/>
                </a:solidFill>
                <a:latin typeface="Consolas"/>
                <a:ea typeface="Consolas"/>
              </a:rPr>
              <a:t>├── deps.py               DI injection</a:t>
            </a:r>
          </a:p>
          <a:p>
            <a:pPr algn="l"/>
            <a:r>
              <a:rPr lang="en-US" sz="1100">
                <a:solidFill>
                  <a:srgbClr val="CADCFC"/>
                </a:solidFill>
                <a:latin typeface="Consolas"/>
                <a:ea typeface="Consolas"/>
              </a:rPr>
              <a:t>│</a:t>
            </a:r>
          </a:p>
          <a:p>
            <a:pPr algn="l"/>
            <a:r>
              <a:rPr lang="en-US" sz="1100">
                <a:solidFill>
                  <a:srgbClr val="CADCFC"/>
                </a:solidFill>
                <a:latin typeface="Consolas"/>
                <a:ea typeface="Consolas"/>
              </a:rPr>
              <a:t>├── api/                  REST + WS routes</a:t>
            </a:r>
          </a:p>
          <a:p>
            <a:pPr algn="l"/>
            <a:r>
              <a:rPr lang="en-US" sz="1100">
                <a:solidFill>
                  <a:srgbClr val="CADCFC"/>
                </a:solidFill>
                <a:latin typeface="Consolas"/>
                <a:ea typeface="Consolas"/>
              </a:rPr>
              <a:t>│   ├── auth.py</a:t>
            </a:r>
          </a:p>
          <a:p>
            <a:pPr algn="l"/>
            <a:r>
              <a:rPr lang="en-US" sz="1100">
                <a:solidFill>
                  <a:srgbClr val="CADCFC"/>
                </a:solidFill>
                <a:latin typeface="Consolas"/>
                <a:ea typeface="Consolas"/>
              </a:rPr>
              <a:t>│   ├── agents.py</a:t>
            </a:r>
          </a:p>
          <a:p>
            <a:pPr algn="l"/>
            <a:r>
              <a:rPr lang="en-US" sz="1100">
                <a:solidFill>
                  <a:srgbClr val="CADCFC"/>
                </a:solidFill>
                <a:latin typeface="Consolas"/>
                <a:ea typeface="Consolas"/>
              </a:rPr>
              <a:t>│   ├── projects.py</a:t>
            </a:r>
          </a:p>
          <a:p>
            <a:pPr algn="l"/>
            <a:r>
              <a:rPr lang="en-US" sz="1100">
                <a:solidFill>
                  <a:srgbClr val="CADCFC"/>
                </a:solidFill>
                <a:latin typeface="Consolas"/>
                <a:ea typeface="Consolas"/>
              </a:rPr>
              <a:t>│   ├── terminal.py</a:t>
            </a:r>
          </a:p>
          <a:p>
            <a:pPr algn="l"/>
            <a:r>
              <a:rPr lang="en-US" sz="1100">
                <a:solidFill>
                  <a:srgbClr val="CADCFC"/>
                </a:solidFill>
                <a:latin typeface="Consolas"/>
                <a:ea typeface="Consolas"/>
              </a:rPr>
              <a:t>│   └── wechat/</a:t>
            </a:r>
          </a:p>
          <a:p>
            <a:pPr algn="l"/>
            <a:r>
              <a:rPr lang="en-US" sz="1100">
                <a:solidFill>
                  <a:srgbClr val="CADCFC"/>
                </a:solidFill>
                <a:latin typeface="Consolas"/>
                <a:ea typeface="Consolas"/>
              </a:rPr>
              <a:t>│       ├── mini_program.py</a:t>
            </a:r>
          </a:p>
          <a:p>
            <a:pPr algn="l"/>
            <a:r>
              <a:rPr lang="en-US" sz="1100">
                <a:solidFill>
                  <a:srgbClr val="CADCFC"/>
                </a:solidFill>
                <a:latin typeface="Consolas"/>
                <a:ea typeface="Consolas"/>
              </a:rPr>
              <a:t>│       └── official_account.py</a:t>
            </a:r>
          </a:p>
          <a:p>
            <a:pPr algn="l"/>
            <a:r>
              <a:rPr lang="en-US" sz="1100">
                <a:solidFill>
                  <a:srgbClr val="CADCFC"/>
                </a:solidFill>
                <a:latin typeface="Consolas"/>
                <a:ea typeface="Consolas"/>
              </a:rPr>
              <a:t>│</a:t>
            </a:r>
          </a:p>
          <a:p>
            <a:pPr algn="l"/>
            <a:r>
              <a:rPr lang="en-US" sz="1100">
                <a:solidFill>
                  <a:srgbClr val="CADCFC"/>
                </a:solidFill>
                <a:latin typeface="Consolas"/>
                <a:ea typeface="Consolas"/>
              </a:rPr>
              <a:t>├── ws/                   WebSocket</a:t>
            </a:r>
          </a:p>
          <a:p>
            <a:pPr algn="l"/>
            <a:r>
              <a:rPr lang="en-US" sz="1100">
                <a:solidFill>
                  <a:srgbClr val="CADCFC"/>
                </a:solidFill>
                <a:latin typeface="Consolas"/>
                <a:ea typeface="Consolas"/>
              </a:rPr>
              <a:t>│   ├── manager.py</a:t>
            </a:r>
          </a:p>
          <a:p>
            <a:pPr algn="l"/>
            <a:r>
              <a:rPr lang="en-US" sz="1100">
                <a:solidFill>
                  <a:srgbClr val="CADCFC"/>
                </a:solidFill>
                <a:latin typeface="Consolas"/>
                <a:ea typeface="Consolas"/>
              </a:rPr>
              <a:t>│   ├── terminal_handler.py</a:t>
            </a:r>
          </a:p>
          <a:p>
            <a:pPr algn="l"/>
            <a:r>
              <a:rPr lang="en-US" sz="1100">
                <a:solidFill>
                  <a:srgbClr val="CADCFC"/>
                </a:solidFill>
                <a:latin typeface="Consolas"/>
                <a:ea typeface="Consolas"/>
              </a:rPr>
              <a:t>│   └── agent_handler.py</a:t>
            </a:r>
          </a:p>
          <a:p>
            <a:pPr algn="l"/>
            <a:r>
              <a:rPr lang="en-US" sz="1100">
                <a:solidFill>
                  <a:srgbClr val="CADCFC"/>
                </a:solidFill>
                <a:latin typeface="Consolas"/>
                <a:ea typeface="Consolas"/>
              </a:rPr>
              <a:t>│</a:t>
            </a:r>
          </a:p>
          <a:p>
            <a:pPr algn="l"/>
            <a:r>
              <a:rPr lang="en-US" sz="1100">
                <a:solidFill>
                  <a:srgbClr val="CADCFC"/>
                </a:solidFill>
                <a:latin typeface="Consolas"/>
                <a:ea typeface="Consolas"/>
              </a:rPr>
              <a:t>├── services/             Business logic</a:t>
            </a:r>
          </a:p>
          <a:p>
            <a:pPr algn="l"/>
            <a:r>
              <a:rPr lang="en-US" sz="1100">
                <a:solidFill>
                  <a:srgbClr val="CADCFC"/>
                </a:solidFill>
                <a:latin typeface="Consolas"/>
                <a:ea typeface="Consolas"/>
              </a:rPr>
              <a:t>│   ├── agent_orchestrator.py ★</a:t>
            </a:r>
          </a:p>
          <a:p>
            <a:pPr algn="l"/>
            <a:r>
              <a:rPr lang="en-US" sz="1100">
                <a:solidFill>
                  <a:srgbClr val="CADCFC"/>
                </a:solidFill>
                <a:latin typeface="Consolas"/>
                <a:ea typeface="Consolas"/>
              </a:rPr>
              <a:t>│   ├── wechat_service.py</a:t>
            </a:r>
          </a:p>
          <a:p>
            <a:pPr algn="l"/>
            <a:r>
              <a:rPr lang="en-US" sz="1100">
                <a:solidFill>
                  <a:srgbClr val="CADCFC"/>
                </a:solidFill>
                <a:latin typeface="Consolas"/>
                <a:ea typeface="Consolas"/>
              </a:rPr>
              <a:t>│   └── notification_service.py</a:t>
            </a:r>
          </a:p>
          <a:p>
            <a:pPr algn="l"/>
            <a:r>
              <a:rPr lang="en-US" sz="1100">
                <a:solidFill>
                  <a:srgbClr val="CADCFC"/>
                </a:solidFill>
                <a:latin typeface="Consolas"/>
                <a:ea typeface="Consolas"/>
              </a:rPr>
              <a:t>│</a:t>
            </a:r>
          </a:p>
          <a:p>
            <a:pPr algn="l"/>
            <a:r>
              <a:rPr lang="en-US" sz="1100">
                <a:solidFill>
                  <a:srgbClr val="CADCFC"/>
                </a:solidFill>
                <a:latin typeface="Consolas"/>
                <a:ea typeface="Consolas"/>
              </a:rPr>
              <a:t>├── models/               ORM models</a:t>
            </a:r>
          </a:p>
          <a:p>
            <a:pPr algn="l"/>
            <a:r>
              <a:rPr lang="en-US" sz="1100">
                <a:solidFill>
                  <a:srgbClr val="CADCFC"/>
                </a:solidFill>
                <a:latin typeface="Consolas"/>
                <a:ea typeface="Consolas"/>
              </a:rPr>
              <a:t>│   └── (20+ tables)</a:t>
            </a:r>
          </a:p>
          <a:p>
            <a:pPr algn="l"/>
            <a:r>
              <a:rPr lang="en-US" sz="1100">
                <a:solidFill>
                  <a:srgbClr val="CADCFC"/>
                </a:solidFill>
                <a:latin typeface="Consolas"/>
                <a:ea typeface="Consolas"/>
              </a:rPr>
              <a:t>│</a:t>
            </a:r>
          </a:p>
          <a:p>
            <a:pPr algn="l"/>
            <a:r>
              <a:rPr lang="en-US" sz="1100">
                <a:solidFill>
                  <a:srgbClr val="CADCFC"/>
                </a:solidFill>
                <a:latin typeface="Consolas"/>
                <a:ea typeface="Consolas"/>
              </a:rPr>
              <a:t>├── schemas/              Pydantic DTOs</a:t>
            </a:r>
          </a:p>
          <a:p>
            <a:pPr algn="l"/>
            <a:r>
              <a:rPr lang="en-US" sz="1100">
                <a:solidFill>
                  <a:srgbClr val="CADCFC"/>
                </a:solidFill>
                <a:latin typeface="Consolas"/>
                <a:ea typeface="Consolas"/>
              </a:rPr>
              <a:t>├── agents/roles/         Agent presets</a:t>
            </a:r>
          </a:p>
          <a:p>
            <a:pPr algn="l"/>
            <a:r>
              <a:rPr lang="en-US" sz="1100">
                <a:solidFill>
                  <a:srgbClr val="CADCFC"/>
                </a:solidFill>
                <a:latin typeface="Consolas"/>
                <a:ea typeface="Consolas"/>
              </a:rPr>
              <a:t>└── tasks/                Celery workers</a:t>
            </a:r>
          </a:p>
        </p:txBody>
      </p:sp>
      <p:sp>
        <p:nvSpPr>
          <p:cNvPr id="100127" name="InfoBox"/>
          <p:cNvSpPr/>
          <p:nvPr/>
        </p:nvSpPr>
        <p:spPr>
          <a:xfrm>
            <a:off x="7380000" y="1080000"/>
            <a:ext cx="3780000" cy="5220000"/>
          </a:xfrm>
          <a:prstGeom prst="roundRect">
            <a:avLst/>
          </a:prstGeom>
          <a:solidFill>
            <a:srgbClr val="F2F5FA"/>
          </a:solidFill>
          <a:ln>
            <a:noFill/>
          </a:ln>
        </p:spPr>
        <p:txBody>
          <a:bodyPr/>
          <a:lstStyle/>
          <a:p/>
        </p:txBody>
      </p:sp>
      <p:sp>
        <p:nvSpPr>
          <p:cNvPr id="100128" name="TextBox 6"/>
          <p:cNvSpPr txBox="1"/>
          <p:nvPr/>
        </p:nvSpPr>
        <p:spPr>
          <a:xfrm>
            <a:off x="7740000" y="1260000"/>
            <a:ext cx="3060000" cy="360000"/>
          </a:xfrm>
          <a:prstGeom prst="rect">
            <a:avLst/>
          </a:prstGeom>
        </p:spPr>
        <p:txBody>
          <a:bodyPr/>
          <a:lstStyle/>
          <a:p>
            <a:pPr algn="l"/>
            <a:r>
              <a:rPr lang="en-US" sz="1800" b="1">
                <a:solidFill>
                  <a:srgbClr val="1E2761"/>
                </a:solidFill>
                <a:latin typeface="Georgia"/>
                <a:ea typeface="Georgia"/>
              </a:rPr>
              <a:t>Frontend</a:t>
            </a:r>
          </a:p>
        </p:txBody>
      </p:sp>
      <p:sp>
        <p:nvSpPr>
          <p:cNvPr id="100129" name="TextBox 7"/>
          <p:cNvSpPr/>
          <p:nvPr/>
        </p:nvSpPr>
        <p:spPr>
          <a:xfrm>
            <a:off x="7740000" y="1584000"/>
            <a:ext cx="3060000" cy="21600"/>
          </a:xfrm>
          <a:prstGeom prst="rect">
            <a:avLst/>
          </a:prstGeom>
          <a:solidFill>
            <a:srgbClr val="CADCFC"/>
          </a:solidFill>
          <a:ln>
            <a:noFill/>
          </a:ln>
        </p:spPr>
        <p:txBody>
          <a:bodyPr/>
          <a:lstStyle/>
          <a:p/>
        </p:txBody>
      </p:sp>
      <p:sp>
        <p:nvSpPr>
          <p:cNvPr id="100130" name="TextBox 8"/>
          <p:cNvSpPr txBox="1"/>
          <p:nvPr/>
        </p:nvSpPr>
        <p:spPr>
          <a:xfrm>
            <a:off x="7740000" y="1800000"/>
            <a:ext cx="3060000" cy="1800000"/>
          </a:xfrm>
          <a:prstGeom prst="rect">
            <a:avLst/>
          </a:prstGeom>
        </p:spPr>
        <p:txBody>
          <a:bodyPr/>
          <a:lstStyle/>
          <a:p>
            <a:pPr algn="l"/>
            <a:r>
              <a:rPr lang="en-US" sz="1300">
                <a:solidFill>
                  <a:srgbClr val="555555"/>
                </a:solidFill>
                <a:latin typeface="Calibri"/>
                <a:ea typeface="Calibri"/>
              </a:rPr>
              <a:t>React 18 + Vite</a:t>
            </a:r>
          </a:p>
          <a:p>
            <a:pPr algn="l"/>
            <a:r>
              <a:rPr lang="en-US" sz="1300">
                <a:solidFill>
                  <a:srgbClr val="555555"/>
                </a:solidFill>
                <a:latin typeface="Calibri"/>
                <a:ea typeface="Calibri"/>
              </a:rPr>
              <a:t>Tailwind CSS</a:t>
            </a:r>
          </a:p>
          <a:p>
            <a:pPr algn="l"/>
            <a:r>
              <a:rPr lang="en-US" sz="1300">
                <a:solidFill>
                  <a:srgbClr val="555555"/>
                </a:solidFill>
                <a:latin typeface="Calibri"/>
                <a:ea typeface="Calibri"/>
              </a:rPr>
              <a:t>PixiJS 8 WebGL</a:t>
            </a:r>
          </a:p>
          <a:p>
            <a:pPr algn="l"/>
            <a:r>
              <a:rPr lang="en-US" sz="1300">
                <a:solidFill>
                  <a:srgbClr val="555555"/>
                </a:solidFill>
                <a:latin typeface="Calibri"/>
                <a:ea typeface="Calibri"/>
              </a:rPr>
              <a:t>Recharts + D3</a:t>
            </a:r>
          </a:p>
          <a:p>
            <a:pPr algn="l"/>
            <a:r>
              <a:rPr lang="en-US" sz="1300">
                <a:solidFill>
                  <a:srgbClr val="555555"/>
                </a:solidFill>
                <a:latin typeface="Calibri"/>
                <a:ea typeface="Calibri"/>
              </a:rPr>
              <a:t>xterm.js</a:t>
            </a:r>
          </a:p>
          <a:p>
            <a:pPr algn="l"/>
            <a:r>
              <a:rPr lang="en-US" sz="1300">
                <a:solidFill>
                  <a:srgbClr val="555555"/>
                </a:solidFill>
                <a:latin typeface="Calibri"/>
                <a:ea typeface="Calibri"/>
              </a:rPr>
              <a:t>Monaco Editor</a:t>
            </a:r>
          </a:p>
          <a:p>
            <a:pPr algn="l"/>
            <a:r>
              <a:rPr lang="en-US" sz="1300">
                <a:solidFill>
                  <a:srgbClr val="555555"/>
                </a:solidFill>
                <a:latin typeface="Calibri"/>
                <a:ea typeface="Calibri"/>
              </a:rPr>
              <a:t>Zustand state</a:t>
            </a:r>
          </a:p>
        </p:txBody>
      </p:sp>
      <p:sp>
        <p:nvSpPr>
          <p:cNvPr id="100131" name="TextBox 9"/>
          <p:cNvSpPr txBox="1"/>
          <p:nvPr/>
        </p:nvSpPr>
        <p:spPr>
          <a:xfrm>
            <a:off x="7740000" y="3780000"/>
            <a:ext cx="3060000" cy="360000"/>
          </a:xfrm>
          <a:prstGeom prst="rect">
            <a:avLst/>
          </a:prstGeom>
        </p:spPr>
        <p:txBody>
          <a:bodyPr/>
          <a:lstStyle/>
          <a:p>
            <a:pPr algn="l"/>
            <a:r>
              <a:rPr lang="en-US" sz="1800" b="1">
                <a:solidFill>
                  <a:srgbClr val="1E2761"/>
                </a:solidFill>
                <a:latin typeface="Georgia"/>
                <a:ea typeface="Georgia"/>
              </a:rPr>
              <a:t>WeChat Mini</a:t>
            </a:r>
          </a:p>
        </p:txBody>
      </p:sp>
      <p:sp>
        <p:nvSpPr>
          <p:cNvPr id="100132" name="TextBox 10"/>
          <p:cNvSpPr/>
          <p:nvPr/>
        </p:nvSpPr>
        <p:spPr>
          <a:xfrm>
            <a:off x="7740000" y="4104000"/>
            <a:ext cx="3060000" cy="21600"/>
          </a:xfrm>
          <a:prstGeom prst="rect">
            <a:avLst/>
          </a:prstGeom>
          <a:solidFill>
            <a:srgbClr val="CADCFC"/>
          </a:solidFill>
          <a:ln>
            <a:noFill/>
          </a:ln>
        </p:spPr>
        <p:txBody>
          <a:bodyPr/>
          <a:lstStyle/>
          <a:p/>
        </p:txBody>
      </p:sp>
      <p:sp>
        <p:nvSpPr>
          <p:cNvPr id="100133" name="TextBox 11"/>
          <p:cNvSpPr txBox="1"/>
          <p:nvPr/>
        </p:nvSpPr>
        <p:spPr>
          <a:xfrm>
            <a:off x="7740000" y="4320000"/>
            <a:ext cx="3060000" cy="1620000"/>
          </a:xfrm>
          <a:prstGeom prst="rect">
            <a:avLst/>
          </a:prstGeom>
        </p:spPr>
        <p:txBody>
          <a:bodyPr/>
          <a:lstStyle/>
          <a:p>
            <a:pPr algn="l"/>
            <a:r>
              <a:rPr lang="en-US" sz="1300">
                <a:solidFill>
                  <a:srgbClr val="555555"/>
                </a:solidFill>
                <a:latin typeface="Calibri"/>
                <a:ea typeface="Calibri"/>
              </a:rPr>
              <a:t>Taro 4.x</a:t>
            </a:r>
          </a:p>
          <a:p>
            <a:pPr algn="l"/>
            <a:r>
              <a:rPr lang="en-US" sz="1300">
                <a:solidFill>
                  <a:srgbClr val="555555"/>
                </a:solidFill>
                <a:latin typeface="Calibri"/>
                <a:ea typeface="Calibri"/>
              </a:rPr>
              <a:t>Taro UI + NutUI</a:t>
            </a:r>
          </a:p>
          <a:p>
            <a:pPr algn="l"/>
            <a:r>
              <a:rPr lang="en-US" sz="1300">
                <a:solidFill>
                  <a:srgbClr val="555555"/>
                </a:solidFill>
                <a:latin typeface="Calibri"/>
                <a:ea typeface="Calibri"/>
              </a:rPr>
              <a:t>ECharts</a:t>
            </a:r>
          </a:p>
          <a:p>
            <a:pPr algn="l"/>
            <a:r>
              <a:rPr lang="en-US" sz="1300">
                <a:solidFill>
                  <a:srgbClr val="555555"/>
                </a:solidFill>
                <a:latin typeface="Calibri"/>
                <a:ea typeface="Calibri"/>
              </a:rPr>
              <a:t>werobot (OA)</a:t>
            </a:r>
          </a:p>
          <a:p>
            <a:pPr algn="l"/>
            <a:r>
              <a:rPr lang="en-US" sz="1300">
                <a:solidFill>
                  <a:srgbClr val="555555"/>
                </a:solidFill>
                <a:latin typeface="Calibri"/>
                <a:ea typeface="Calibri"/>
              </a:rPr>
              <a:t>Template messages</a:t>
            </a:r>
          </a:p>
        </p:txBody>
      </p:sp>
    </p:spTree>
  </p:cSld>
</p:sld>
</file>

<file path=ppt/slides/slide1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134" name="AccentBar"/>
          <p:cNvSpPr/>
          <p:nvPr/>
        </p:nvSpPr>
        <p:spPr>
          <a:xfrm>
            <a:off x="0" y="0"/>
            <a:ext cx="144000" cy="6858000"/>
          </a:xfrm>
          <a:prstGeom prst="rect">
            <a:avLst/>
          </a:prstGeom>
          <a:solidFill>
            <a:srgbClr val="1E2761"/>
          </a:solidFill>
          <a:ln>
            <a:noFill/>
          </a:ln>
        </p:spPr>
        <p:txBody>
          <a:bodyPr/>
          <a:lstStyle/>
          <a:p/>
        </p:txBody>
      </p:sp>
      <p:sp>
        <p:nvSpPr>
          <p:cNvPr id="100135" name="Title"/>
          <p:cNvSpPr txBox="1"/>
          <p:nvPr/>
        </p:nvSpPr>
        <p:spPr>
          <a:xfrm>
            <a:off x="900000" y="288000"/>
            <a:ext cx="10080000" cy="576000"/>
          </a:xfrm>
          <a:prstGeom prst="rect">
            <a:avLst/>
          </a:prstGeom>
        </p:spPr>
        <p:txBody>
          <a:bodyPr/>
          <a:lstStyle/>
          <a:p>
            <a:pPr algn="l"/>
            <a:r>
              <a:rPr lang="en-US" sz="3600" b="1">
                <a:solidFill>
                  <a:srgbClr val="1E2761"/>
                </a:solidFill>
                <a:latin typeface="Georgia"/>
                <a:ea typeface="Georgia"/>
              </a:rPr>
              <a:t>部署方案与基础设施</a:t>
            </a:r>
          </a:p>
        </p:txBody>
      </p:sp>
      <p:sp>
        <p:nvSpPr>
          <p:cNvPr id="100136" name="DockerBox"/>
          <p:cNvSpPr/>
          <p:nvPr/>
        </p:nvSpPr>
        <p:spPr>
          <a:xfrm>
            <a:off x="900000" y="1080000"/>
            <a:ext cx="10080000" cy="2880000"/>
          </a:xfrm>
          <a:prstGeom prst="roundRect">
            <a:avLst/>
          </a:prstGeom>
          <a:solidFill>
            <a:srgbClr val="1E2761"/>
          </a:solidFill>
          <a:ln>
            <a:noFill/>
          </a:ln>
        </p:spPr>
        <p:txBody>
          <a:bodyPr/>
          <a:lstStyle/>
          <a:p/>
        </p:txBody>
      </p:sp>
      <p:sp>
        <p:nvSpPr>
          <p:cNvPr id="100137" name="TextBox 4"/>
          <p:cNvSpPr txBox="1"/>
          <p:nvPr/>
        </p:nvSpPr>
        <p:spPr>
          <a:xfrm>
            <a:off x="1260000" y="1188000"/>
            <a:ext cx="3600000" cy="288000"/>
          </a:xfrm>
          <a:prstGeom prst="rect">
            <a:avLst/>
          </a:prstGeom>
        </p:spPr>
        <p:txBody>
          <a:bodyPr/>
          <a:lstStyle/>
          <a:p>
            <a:pPr algn="l"/>
            <a:r>
              <a:rPr lang="en-US" sz="1600" b="1">
                <a:solidFill>
                  <a:srgbClr val="CADCFC"/>
                </a:solidFill>
                <a:latin typeface="Georgia"/>
                <a:ea typeface="Georgia"/>
              </a:rPr>
              <a:t>Docker Compose Stack</a:t>
            </a:r>
          </a:p>
        </p:txBody>
      </p:sp>
      <p:sp>
        <p:nvSpPr>
          <p:cNvPr id="100138" name="PgBox"/>
          <p:cNvSpPr/>
          <p:nvPr/>
        </p:nvSpPr>
        <p:spPr>
          <a:xfrm>
            <a:off x="1260000" y="1620000"/>
            <a:ext cx="2088000" cy="1980000"/>
          </a:xfrm>
          <a:prstGeom prst="roundRect">
            <a:avLst/>
          </a:prstGeom>
          <a:solidFill>
            <a:srgbClr val="065A82"/>
          </a:solidFill>
          <a:ln>
            <a:noFill/>
          </a:ln>
        </p:spPr>
        <p:txBody>
          <a:bodyPr/>
          <a:lstStyle/>
          <a:p/>
        </p:txBody>
      </p:sp>
      <p:sp>
        <p:nvSpPr>
          <p:cNvPr id="100139" name="TextBox 6"/>
          <p:cNvSpPr txBox="1"/>
          <p:nvPr/>
        </p:nvSpPr>
        <p:spPr>
          <a:xfrm>
            <a:off x="1260000" y="2340000"/>
            <a:ext cx="2088000" cy="360000"/>
          </a:xfrm>
          <a:prstGeom prst="rect">
            <a:avLst/>
          </a:prstGeom>
        </p:spPr>
        <p:txBody>
          <a:bodyPr/>
          <a:lstStyle/>
          <a:p>
            <a:pPr algn="ctr"/>
            <a:r>
              <a:rPr lang="en-US" sz="1400" b="1">
                <a:solidFill>
                  <a:srgbClr val="FFFFFF"/>
                </a:solidFill>
                <a:latin typeface="Georgia"/>
                <a:ea typeface="Georgia"/>
              </a:rPr>
              <a:t>PostgreSQL 16</a:t>
            </a:r>
          </a:p>
        </p:txBody>
      </p:sp>
      <p:sp>
        <p:nvSpPr>
          <p:cNvPr id="100140" name="TextBox 7"/>
          <p:cNvSpPr txBox="1"/>
          <p:nvPr/>
        </p:nvSpPr>
        <p:spPr>
          <a:xfrm>
            <a:off x="1260000" y="2700000"/>
            <a:ext cx="2088000" cy="792000"/>
          </a:xfrm>
          <a:prstGeom prst="rect">
            <a:avLst/>
          </a:prstGeom>
        </p:spPr>
        <p:txBody>
          <a:bodyPr/>
          <a:lstStyle/>
          <a:p>
            <a:pPr algn="ctr"/>
            <a:r>
              <a:rPr lang="en-US" sz="1100">
                <a:solidFill>
                  <a:srgbClr val="CADCFC"/>
                </a:solidFill>
                <a:latin typeface="Calibri"/>
                <a:ea typeface="Calibri"/>
              </a:rPr>
              <a:t>Alpine Linux</a:t>
            </a:r>
          </a:p>
          <a:p>
            <a:pPr algn="ctr"/>
            <a:r>
              <a:rPr lang="en-US" sz="1100">
                <a:solidFill>
                  <a:srgbClr val="CADCFC"/>
                </a:solidFill>
                <a:latin typeface="Calibri"/>
                <a:ea typeface="Calibri"/>
              </a:rPr>
              <a:t>Port: 5432</a:t>
            </a:r>
          </a:p>
          <a:p>
            <a:pPr algn="ctr"/>
            <a:r>
              <a:rPr lang="en-US" sz="1100">
                <a:solidFill>
                  <a:srgbClr val="CADCFC"/>
                </a:solidFill>
                <a:latin typeface="Calibri"/>
                <a:ea typeface="Calibri"/>
              </a:rPr>
              <a:t>Health Check</a:t>
            </a:r>
          </a:p>
          <a:p>
            <a:pPr algn="ctr"/>
            <a:r>
              <a:rPr lang="en-US" sz="1100">
                <a:solidFill>
                  <a:srgbClr val="CADCFC"/>
                </a:solidFill>
                <a:latin typeface="Calibri"/>
                <a:ea typeface="Calibri"/>
              </a:rPr>
              <a:t>Volume persist</a:t>
            </a:r>
          </a:p>
        </p:txBody>
      </p:sp>
      <p:sp>
        <p:nvSpPr>
          <p:cNvPr id="100141" name="RedisBox"/>
          <p:cNvSpPr/>
          <p:nvPr/>
        </p:nvSpPr>
        <p:spPr>
          <a:xfrm>
            <a:off x="3672000" y="1620000"/>
            <a:ext cx="2088000" cy="1980000"/>
          </a:xfrm>
          <a:prstGeom prst="roundRect">
            <a:avLst/>
          </a:prstGeom>
          <a:solidFill>
            <a:srgbClr val="1C7293"/>
          </a:solidFill>
          <a:ln>
            <a:noFill/>
          </a:ln>
        </p:spPr>
        <p:txBody>
          <a:bodyPr/>
          <a:lstStyle/>
          <a:p/>
        </p:txBody>
      </p:sp>
      <p:sp>
        <p:nvSpPr>
          <p:cNvPr id="100142" name="TextBox 9"/>
          <p:cNvSpPr txBox="1"/>
          <p:nvPr/>
        </p:nvSpPr>
        <p:spPr>
          <a:xfrm>
            <a:off x="3672000" y="2340000"/>
            <a:ext cx="2088000" cy="360000"/>
          </a:xfrm>
          <a:prstGeom prst="rect">
            <a:avLst/>
          </a:prstGeom>
        </p:spPr>
        <p:txBody>
          <a:bodyPr/>
          <a:lstStyle/>
          <a:p>
            <a:pPr algn="ctr"/>
            <a:r>
              <a:rPr lang="en-US" sz="1400" b="1">
                <a:solidFill>
                  <a:srgbClr val="FFFFFF"/>
                </a:solidFill>
                <a:latin typeface="Georgia"/>
                <a:ea typeface="Georgia"/>
              </a:rPr>
              <a:t>Redis 7</a:t>
            </a:r>
          </a:p>
        </p:txBody>
      </p:sp>
      <p:sp>
        <p:nvSpPr>
          <p:cNvPr id="100143" name="TextBox 10"/>
          <p:cNvSpPr txBox="1"/>
          <p:nvPr/>
        </p:nvSpPr>
        <p:spPr>
          <a:xfrm>
            <a:off x="3672000" y="2700000"/>
            <a:ext cx="2088000" cy="792000"/>
          </a:xfrm>
          <a:prstGeom prst="rect">
            <a:avLst/>
          </a:prstGeom>
        </p:spPr>
        <p:txBody>
          <a:bodyPr/>
          <a:lstStyle/>
          <a:p>
            <a:pPr algn="ctr"/>
            <a:r>
              <a:rPr lang="en-US" sz="1100">
                <a:solidFill>
                  <a:srgbClr val="CADCFC"/>
                </a:solidFill>
                <a:latin typeface="Calibri"/>
                <a:ea typeface="Calibri"/>
              </a:rPr>
              <a:t>Alpine Linux</a:t>
            </a:r>
          </a:p>
          <a:p>
            <a:pPr algn="ctr"/>
            <a:r>
              <a:rPr lang="en-US" sz="1100">
                <a:solidFill>
                  <a:srgbClr val="CADCFC"/>
                </a:solidFill>
                <a:latin typeface="Calibri"/>
                <a:ea typeface="Calibri"/>
              </a:rPr>
              <a:t>Port: 6379</a:t>
            </a:r>
          </a:p>
          <a:p>
            <a:pPr algn="ctr"/>
            <a:r>
              <a:rPr lang="en-US" sz="1100">
                <a:solidFill>
                  <a:srgbClr val="CADCFC"/>
                </a:solidFill>
                <a:latin typeface="Calibri"/>
                <a:ea typeface="Calibri"/>
              </a:rPr>
              <a:t>AOF persist</a:t>
            </a:r>
          </a:p>
          <a:p>
            <a:pPr algn="ctr"/>
            <a:r>
              <a:rPr lang="en-US" sz="1100">
                <a:solidFill>
                  <a:srgbClr val="CADCFC"/>
                </a:solidFill>
                <a:latin typeface="Calibri"/>
                <a:ea typeface="Calibri"/>
              </a:rPr>
              <a:t>256MB LRU</a:t>
            </a:r>
          </a:p>
        </p:txBody>
      </p:sp>
      <p:sp>
        <p:nvSpPr>
          <p:cNvPr id="100144" name="AppBox"/>
          <p:cNvSpPr/>
          <p:nvPr/>
        </p:nvSpPr>
        <p:spPr>
          <a:xfrm>
            <a:off x="6084000" y="1620000"/>
            <a:ext cx="2088000" cy="1980000"/>
          </a:xfrm>
          <a:prstGeom prst="roundRect">
            <a:avLst/>
          </a:prstGeom>
          <a:solidFill>
            <a:srgbClr val="21295C"/>
          </a:solidFill>
          <a:ln>
            <a:noFill/>
          </a:ln>
        </p:spPr>
        <p:txBody>
          <a:bodyPr/>
          <a:lstStyle/>
          <a:p/>
        </p:txBody>
      </p:sp>
      <p:sp>
        <p:nvSpPr>
          <p:cNvPr id="100145" name="TextBox 12"/>
          <p:cNvSpPr txBox="1"/>
          <p:nvPr/>
        </p:nvSpPr>
        <p:spPr>
          <a:xfrm>
            <a:off x="6084000" y="2340000"/>
            <a:ext cx="2088000" cy="360000"/>
          </a:xfrm>
          <a:prstGeom prst="rect">
            <a:avLst/>
          </a:prstGeom>
        </p:spPr>
        <p:txBody>
          <a:bodyPr/>
          <a:lstStyle/>
          <a:p>
            <a:pPr algn="ctr"/>
            <a:r>
              <a:rPr lang="en-US" sz="1400" b="1">
                <a:solidFill>
                  <a:srgbClr val="FFFFFF"/>
                </a:solidFill>
                <a:latin typeface="Georgia"/>
                <a:ea typeface="Georgia"/>
              </a:rPr>
              <a:t>FastAPI (uvicorn)</a:t>
            </a:r>
          </a:p>
        </p:txBody>
      </p:sp>
      <p:sp>
        <p:nvSpPr>
          <p:cNvPr id="100146" name="TextBox 13"/>
          <p:cNvSpPr txBox="1"/>
          <p:nvPr/>
        </p:nvSpPr>
        <p:spPr>
          <a:xfrm>
            <a:off x="6084000" y="2700000"/>
            <a:ext cx="2088000" cy="792000"/>
          </a:xfrm>
          <a:prstGeom prst="rect">
            <a:avLst/>
          </a:prstGeom>
        </p:spPr>
        <p:txBody>
          <a:bodyPr/>
          <a:lstStyle/>
          <a:p>
            <a:pPr algn="ctr"/>
            <a:r>
              <a:rPr lang="en-US" sz="1100">
                <a:solidFill>
                  <a:srgbClr val="CADCFC"/>
                </a:solidFill>
                <a:latin typeface="Calibri"/>
                <a:ea typeface="Calibri"/>
              </a:rPr>
              <a:t>Python 3.11</a:t>
            </a:r>
          </a:p>
          <a:p>
            <a:pPr algn="ctr"/>
            <a:r>
              <a:rPr lang="en-US" sz="1100">
                <a:solidFill>
                  <a:srgbClr val="CADCFC"/>
                </a:solidFill>
                <a:latin typeface="Calibri"/>
                <a:ea typeface="Calibri"/>
              </a:rPr>
              <a:t>Poetry deps</a:t>
            </a:r>
          </a:p>
          <a:p>
            <a:pPr algn="ctr"/>
            <a:r>
              <a:rPr lang="en-US" sz="1100">
                <a:solidFill>
                  <a:srgbClr val="CADCFC"/>
                </a:solidFill>
                <a:latin typeface="Calibri"/>
                <a:ea typeface="Calibri"/>
              </a:rPr>
              <a:t>REST + WS</a:t>
            </a:r>
          </a:p>
          <a:p>
            <a:pPr algn="ctr"/>
            <a:r>
              <a:rPr lang="en-US" sz="1100">
                <a:solidFill>
                  <a:srgbClr val="CADCFC"/>
                </a:solidFill>
                <a:latin typeface="Calibri"/>
                <a:ea typeface="Calibri"/>
              </a:rPr>
              <a:t>Celery worker</a:t>
            </a:r>
          </a:p>
        </p:txBody>
      </p:sp>
      <p:sp>
        <p:nvSpPr>
          <p:cNvPr id="100147" name="NginxBox"/>
          <p:cNvSpPr/>
          <p:nvPr/>
        </p:nvSpPr>
        <p:spPr>
          <a:xfrm>
            <a:off x="8496000" y="1620000"/>
            <a:ext cx="2088000" cy="1980000"/>
          </a:xfrm>
          <a:prstGeom prst="roundRect">
            <a:avLst/>
          </a:prstGeom>
          <a:solidFill>
            <a:srgbClr val="065A82"/>
          </a:solidFill>
          <a:ln>
            <a:noFill/>
          </a:ln>
        </p:spPr>
        <p:txBody>
          <a:bodyPr/>
          <a:lstStyle/>
          <a:p/>
        </p:txBody>
      </p:sp>
      <p:sp>
        <p:nvSpPr>
          <p:cNvPr id="100148" name="TextBox 15"/>
          <p:cNvSpPr txBox="1"/>
          <p:nvPr/>
        </p:nvSpPr>
        <p:spPr>
          <a:xfrm>
            <a:off x="8496000" y="2340000"/>
            <a:ext cx="2088000" cy="360000"/>
          </a:xfrm>
          <a:prstGeom prst="rect">
            <a:avLst/>
          </a:prstGeom>
        </p:spPr>
        <p:txBody>
          <a:bodyPr/>
          <a:lstStyle/>
          <a:p>
            <a:pPr algn="ctr"/>
            <a:r>
              <a:rPr lang="en-US" sz="1400" b="1">
                <a:solidFill>
                  <a:srgbClr val="FFFFFF"/>
                </a:solidFill>
                <a:latin typeface="Georgia"/>
                <a:ea typeface="Georgia"/>
              </a:rPr>
              <a:t>Nginx</a:t>
            </a:r>
          </a:p>
        </p:txBody>
      </p:sp>
      <p:sp>
        <p:nvSpPr>
          <p:cNvPr id="100149" name="TextBox 16"/>
          <p:cNvSpPr txBox="1"/>
          <p:nvPr/>
        </p:nvSpPr>
        <p:spPr>
          <a:xfrm>
            <a:off x="8496000" y="2700000"/>
            <a:ext cx="2088000" cy="792000"/>
          </a:xfrm>
          <a:prstGeom prst="rect">
            <a:avLst/>
          </a:prstGeom>
        </p:spPr>
        <p:txBody>
          <a:bodyPr/>
          <a:lstStyle/>
          <a:p>
            <a:pPr algn="ctr"/>
            <a:r>
              <a:rPr lang="en-US" sz="1100">
                <a:solidFill>
                  <a:srgbClr val="CADCFC"/>
                </a:solidFill>
                <a:latin typeface="Calibri"/>
                <a:ea typeface="Calibri"/>
              </a:rPr>
              <a:t>Reverse Proxy</a:t>
            </a:r>
          </a:p>
          <a:p>
            <a:pPr algn="ctr"/>
            <a:r>
              <a:rPr lang="en-US" sz="1100">
                <a:solidFill>
                  <a:srgbClr val="CADCFC"/>
                </a:solidFill>
                <a:latin typeface="Calibri"/>
                <a:ea typeface="Calibri"/>
              </a:rPr>
              <a:t>Static files</a:t>
            </a:r>
          </a:p>
          <a:p>
            <a:pPr algn="ctr"/>
            <a:r>
              <a:rPr lang="en-US" sz="1100">
                <a:solidFill>
                  <a:srgbClr val="CADCFC"/>
                </a:solidFill>
                <a:latin typeface="Calibri"/>
                <a:ea typeface="Calibri"/>
              </a:rPr>
              <a:t>SSL term</a:t>
            </a:r>
          </a:p>
          <a:p>
            <a:pPr algn="ctr"/>
            <a:r>
              <a:rPr lang="en-US" sz="1100">
                <a:solidFill>
                  <a:srgbClr val="CADCFC"/>
                </a:solidFill>
                <a:latin typeface="Calibri"/>
                <a:ea typeface="Calibri"/>
              </a:rPr>
              <a:t>Load balance</a:t>
            </a:r>
          </a:p>
        </p:txBody>
      </p:sp>
      <p:sp>
        <p:nvSpPr>
          <p:cNvPr id="100150" name="DeployCard"/>
          <p:cNvSpPr/>
          <p:nvPr/>
        </p:nvSpPr>
        <p:spPr>
          <a:xfrm>
            <a:off x="900000" y="4320000"/>
            <a:ext cx="4860000" cy="1980000"/>
          </a:xfrm>
          <a:prstGeom prst="roundRect">
            <a:avLst/>
          </a:prstGeom>
          <a:solidFill>
            <a:srgbClr val="F2F5FA"/>
          </a:solidFill>
          <a:ln>
            <a:noFill/>
          </a:ln>
        </p:spPr>
        <p:txBody>
          <a:bodyPr/>
          <a:lstStyle/>
          <a:p/>
        </p:txBody>
      </p:sp>
      <p:sp>
        <p:nvSpPr>
          <p:cNvPr id="100151" name="TextBox 18"/>
          <p:cNvSpPr txBox="1"/>
          <p:nvPr/>
        </p:nvSpPr>
        <p:spPr>
          <a:xfrm>
            <a:off x="1260000" y="4500000"/>
            <a:ext cx="3960000" cy="360000"/>
          </a:xfrm>
          <a:prstGeom prst="rect">
            <a:avLst/>
          </a:prstGeom>
        </p:spPr>
        <p:txBody>
          <a:bodyPr/>
          <a:lstStyle/>
          <a:p>
            <a:pPr algn="l"/>
            <a:r>
              <a:rPr lang="en-US" sz="1800" b="1">
                <a:solidFill>
                  <a:srgbClr val="1E2761"/>
                </a:solidFill>
                <a:latin typeface="Georgia"/>
                <a:ea typeface="Georgia"/>
              </a:rPr>
              <a:t>Deployment Options</a:t>
            </a:r>
          </a:p>
        </p:txBody>
      </p:sp>
      <p:sp>
        <p:nvSpPr>
          <p:cNvPr id="100152" name="TextBox 19"/>
          <p:cNvSpPr txBox="1"/>
          <p:nvPr/>
        </p:nvSpPr>
        <p:spPr>
          <a:xfrm>
            <a:off x="1260000" y="5040000"/>
            <a:ext cx="1260000" cy="648000"/>
          </a:xfrm>
          <a:prstGeom prst="rect">
            <a:avLst/>
          </a:prstGeom>
        </p:spPr>
        <p:txBody>
          <a:bodyPr/>
          <a:lstStyle/>
          <a:p>
            <a:pPr algn="l"/>
            <a:r>
              <a:rPr lang="en-US" sz="1400" b="1">
                <a:solidFill>
                  <a:srgbClr val="1E2761"/>
                </a:solidFill>
                <a:latin typeface="Calibri"/>
                <a:ea typeface="Calibri"/>
              </a:rPr>
              <a:t>Single Server</a:t>
            </a:r>
          </a:p>
        </p:txBody>
      </p:sp>
      <p:sp>
        <p:nvSpPr>
          <p:cNvPr id="100153" name="TextBox 20"/>
          <p:cNvSpPr txBox="1"/>
          <p:nvPr/>
        </p:nvSpPr>
        <p:spPr>
          <a:xfrm>
            <a:off x="1260000" y="5328000"/>
            <a:ext cx="4140000" cy="540000"/>
          </a:xfrm>
          <a:prstGeom prst="rect">
            <a:avLst/>
          </a:prstGeom>
        </p:spPr>
        <p:txBody>
          <a:bodyPr/>
          <a:lstStyle/>
          <a:p>
            <a:pPr algn="l"/>
            <a:r>
              <a:rPr lang="en-US" sz="1200">
                <a:solidFill>
                  <a:srgbClr val="555555"/>
                </a:solidFill>
                <a:latin typeface="Calibri"/>
                <a:ea typeface="Calibri"/>
              </a:rPr>
              <a:t>docker compose up -d</a:t>
            </a:r>
          </a:p>
          <a:p>
            <a:pPr algn="l"/>
            <a:r>
              <a:rPr lang="en-US" sz="1200">
                <a:solidFill>
                  <a:srgbClr val="555555"/>
                </a:solidFill>
                <a:latin typeface="Calibri"/>
                <a:ea typeface="Calibri"/>
              </a:rPr>
              <a:t>Minimal: 2GB RAM, 2 CPU</a:t>
            </a:r>
          </a:p>
        </p:txBody>
      </p:sp>
      <p:sp>
        <p:nvSpPr>
          <p:cNvPr id="100154" name="TextBox 21"/>
          <p:cNvSpPr txBox="1"/>
          <p:nvPr/>
        </p:nvSpPr>
        <p:spPr>
          <a:xfrm>
            <a:off x="1260000" y="5688000"/>
            <a:ext cx="1260000" cy="360000"/>
          </a:xfrm>
          <a:prstGeom prst="rect">
            <a:avLst/>
          </a:prstGeom>
        </p:spPr>
        <p:txBody>
          <a:bodyPr/>
          <a:lstStyle/>
          <a:p>
            <a:pPr algn="l"/>
            <a:r>
              <a:rPr lang="en-US" sz="1400" b="1">
                <a:solidFill>
                  <a:srgbClr val="1E2761"/>
                </a:solidFill>
                <a:latin typeface="Calibri"/>
                <a:ea typeface="Calibri"/>
              </a:rPr>
              <a:t>Production</a:t>
            </a:r>
          </a:p>
        </p:txBody>
      </p:sp>
      <p:sp>
        <p:nvSpPr>
          <p:cNvPr id="100155" name="TextBox 22"/>
          <p:cNvSpPr txBox="1"/>
          <p:nvPr/>
        </p:nvSpPr>
        <p:spPr>
          <a:xfrm>
            <a:off x="2700000" y="5688000"/>
            <a:ext cx="2880000" cy="432000"/>
          </a:xfrm>
          <a:prstGeom prst="rect">
            <a:avLst/>
          </a:prstGeom>
        </p:spPr>
        <p:txBody>
          <a:bodyPr/>
          <a:lstStyle/>
          <a:p>
            <a:pPr algn="l"/>
            <a:r>
              <a:rPr lang="en-US" sz="1200">
                <a:solidFill>
                  <a:srgbClr val="555555"/>
                </a:solidFill>
                <a:latin typeface="Calibri"/>
                <a:ea typeface="Calibri"/>
              </a:rPr>
              <a:t>K8s + Helm  |  Cloud SQL  |  ElastiCache</a:t>
            </a:r>
          </a:p>
        </p:txBody>
      </p:sp>
      <p:sp>
        <p:nvSpPr>
          <p:cNvPr id="100156" name="CICDCard"/>
          <p:cNvSpPr/>
          <p:nvPr/>
        </p:nvSpPr>
        <p:spPr>
          <a:xfrm>
            <a:off x="6120000" y="4320000"/>
            <a:ext cx="4860000" cy="1980000"/>
          </a:xfrm>
          <a:prstGeom prst="roundRect">
            <a:avLst/>
          </a:prstGeom>
          <a:solidFill>
            <a:srgbClr val="1E2761"/>
          </a:solidFill>
          <a:ln>
            <a:noFill/>
          </a:ln>
        </p:spPr>
        <p:txBody>
          <a:bodyPr/>
          <a:lstStyle/>
          <a:p/>
        </p:txBody>
      </p:sp>
      <p:sp>
        <p:nvSpPr>
          <p:cNvPr id="100157" name="TextBox 24"/>
          <p:cNvSpPr txBox="1"/>
          <p:nvPr/>
        </p:nvSpPr>
        <p:spPr>
          <a:xfrm>
            <a:off x="6480000" y="4500000"/>
            <a:ext cx="3960000" cy="360000"/>
          </a:xfrm>
          <a:prstGeom prst="rect">
            <a:avLst/>
          </a:prstGeom>
        </p:spPr>
        <p:txBody>
          <a:bodyPr/>
          <a:lstStyle/>
          <a:p>
            <a:pPr algn="l"/>
            <a:r>
              <a:rPr lang="en-US" sz="1800" b="1">
                <a:solidFill>
                  <a:srgbClr val="FFFFFF"/>
                </a:solidFill>
                <a:latin typeface="Georgia"/>
                <a:ea typeface="Georgia"/>
              </a:rPr>
              <a:t>CI/CD Pipeline</a:t>
            </a:r>
          </a:p>
        </p:txBody>
      </p:sp>
      <p:sp>
        <p:nvSpPr>
          <p:cNvPr id="100158" name="TextBox 25"/>
          <p:cNvSpPr txBox="1"/>
          <p:nvPr/>
        </p:nvSpPr>
        <p:spPr>
          <a:xfrm>
            <a:off x="6480000" y="5040000"/>
            <a:ext cx="1440000" cy="540000"/>
          </a:xfrm>
          <a:prstGeom prst="rect">
            <a:avLst/>
          </a:prstGeom>
        </p:spPr>
        <p:txBody>
          <a:bodyPr/>
          <a:lstStyle/>
          <a:p>
            <a:pPr algn="l"/>
            <a:r>
              <a:rPr lang="en-US" sz="1300" b="1">
                <a:solidFill>
                  <a:srgbClr val="FFFFFF"/>
                </a:solidFill>
                <a:latin typeface="Calibri"/>
                <a:ea typeface="Calibri"/>
              </a:rPr>
              <a:t>GitHub Actions</a:t>
            </a:r>
          </a:p>
        </p:txBody>
      </p:sp>
      <p:sp>
        <p:nvSpPr>
          <p:cNvPr id="100159" name="TextBox 26"/>
          <p:cNvSpPr txBox="1"/>
          <p:nvPr/>
        </p:nvSpPr>
        <p:spPr>
          <a:xfrm>
            <a:off x="6480000" y="5256000"/>
            <a:ext cx="4140000" cy="252000"/>
          </a:xfrm>
          <a:prstGeom prst="rect">
            <a:avLst/>
          </a:prstGeom>
        </p:spPr>
        <p:txBody>
          <a:bodyPr/>
          <a:lstStyle/>
          <a:p>
            <a:pPr algn="l"/>
            <a:r>
              <a:rPr lang="en-US" sz="1200">
                <a:solidFill>
                  <a:srgbClr val="CADCFC"/>
                </a:solidFill>
                <a:latin typeface="Calibri"/>
                <a:ea typeface="Calibri"/>
              </a:rPr>
              <a:t>Lint → Test → Build → Deploy</a:t>
            </a:r>
          </a:p>
        </p:txBody>
      </p:sp>
      <p:sp>
        <p:nvSpPr>
          <p:cNvPr id="100160" name="TextBox 27"/>
          <p:cNvSpPr txBox="1"/>
          <p:nvPr/>
        </p:nvSpPr>
        <p:spPr>
          <a:xfrm>
            <a:off x="6480000" y="5580000"/>
            <a:ext cx="1440000" cy="288000"/>
          </a:xfrm>
          <a:prstGeom prst="rect">
            <a:avLst/>
          </a:prstGeom>
        </p:spPr>
        <p:txBody>
          <a:bodyPr/>
          <a:lstStyle/>
          <a:p>
            <a:pPr algn="l"/>
            <a:r>
              <a:rPr lang="en-US" sz="1300" b="1">
                <a:solidFill>
                  <a:srgbClr val="FFFFFF"/>
                </a:solidFill>
                <a:latin typeface="Calibri"/>
                <a:ea typeface="Calibri"/>
              </a:rPr>
              <a:t>Monitoring</a:t>
            </a:r>
          </a:p>
        </p:txBody>
      </p:sp>
      <p:sp>
        <p:nvSpPr>
          <p:cNvPr id="100161" name="TextBox 28"/>
          <p:cNvSpPr txBox="1"/>
          <p:nvPr/>
        </p:nvSpPr>
        <p:spPr>
          <a:xfrm>
            <a:off x="6480000" y="5796000"/>
            <a:ext cx="4140000" cy="252000"/>
          </a:xfrm>
          <a:prstGeom prst="rect">
            <a:avLst/>
          </a:prstGeom>
        </p:spPr>
        <p:txBody>
          <a:bodyPr/>
          <a:lstStyle/>
          <a:p>
            <a:pPr algn="l"/>
            <a:r>
              <a:rPr lang="en-US" sz="1200">
                <a:solidFill>
                  <a:srgbClr val="CADCFC"/>
                </a:solidFill>
                <a:latin typeface="Calibri"/>
                <a:ea typeface="Calibri"/>
              </a:rPr>
              <a:t>Prometheus + Grafana  |  structlog</a:t>
            </a:r>
          </a:p>
        </p:txBody>
      </p:sp>
    </p:spTree>
  </p:cSld>
</p:sld>
</file>

<file path=ppt/slides/slide12.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162" name="AccentBar"/>
          <p:cNvSpPr/>
          <p:nvPr/>
        </p:nvSpPr>
        <p:spPr>
          <a:xfrm>
            <a:off x="0" y="0"/>
            <a:ext cx="144000" cy="6858000"/>
          </a:xfrm>
          <a:prstGeom prst="rect">
            <a:avLst/>
          </a:prstGeom>
          <a:solidFill>
            <a:srgbClr val="1E2761"/>
          </a:solidFill>
          <a:ln>
            <a:noFill/>
          </a:ln>
        </p:spPr>
        <p:txBody>
          <a:bodyPr/>
          <a:lstStyle/>
          <a:p/>
        </p:txBody>
      </p:sp>
      <p:sp>
        <p:nvSpPr>
          <p:cNvPr id="100163" name="Title"/>
          <p:cNvSpPr txBox="1"/>
          <p:nvPr/>
        </p:nvSpPr>
        <p:spPr>
          <a:xfrm>
            <a:off x="900000" y="288000"/>
            <a:ext cx="10080000" cy="576000"/>
          </a:xfrm>
          <a:prstGeom prst="rect">
            <a:avLst/>
          </a:prstGeom>
        </p:spPr>
        <p:txBody>
          <a:bodyPr/>
          <a:lstStyle/>
          <a:p>
            <a:pPr algn="l"/>
            <a:r>
              <a:rPr lang="en-US" sz="3600" b="1">
                <a:solidFill>
                  <a:srgbClr val="1E2761"/>
                </a:solidFill>
                <a:latin typeface="Georgia"/>
                <a:ea typeface="Georgia"/>
              </a:rPr>
              <a:t>发展路线图</a:t>
            </a:r>
          </a:p>
        </p:txBody>
      </p:sp>
      <p:sp>
        <p:nvSpPr>
          <p:cNvPr id="100164" name="Timeline"/>
          <p:cNvSpPr/>
          <p:nvPr/>
        </p:nvSpPr>
        <p:spPr>
          <a:xfrm>
            <a:off x="900000" y="2340000"/>
            <a:ext cx="10080000" cy="72000"/>
          </a:xfrm>
          <a:prstGeom prst="rect">
            <a:avLst/>
          </a:prstGeom>
          <a:solidFill>
            <a:srgbClr val="CADCFC"/>
          </a:solidFill>
          <a:ln>
            <a:noFill/>
          </a:ln>
        </p:spPr>
        <p:txBody>
          <a:bodyPr/>
          <a:lstStyle/>
          <a:p/>
        </p:txBody>
      </p:sp>
      <p:sp>
        <p:nvSpPr>
          <p:cNvPr id="100165" name="TextBox 4"/>
          <p:cNvSpPr/>
          <p:nvPr/>
        </p:nvSpPr>
        <p:spPr>
          <a:xfrm>
            <a:off x="1800000" y="2088000"/>
            <a:ext cx="540000" cy="540000"/>
          </a:xfrm>
          <a:prstGeom prst="ellipse">
            <a:avLst/>
          </a:prstGeom>
          <a:solidFill>
            <a:srgbClr val="1E2761"/>
          </a:solidFill>
          <a:ln>
            <a:noFill/>
          </a:ln>
        </p:spPr>
        <p:txBody>
          <a:bodyPr/>
          <a:lstStyle/>
          <a:p/>
        </p:txBody>
      </p:sp>
      <p:sp>
        <p:nvSpPr>
          <p:cNvPr id="100166" name="TextBox 5"/>
          <p:cNvSpPr txBox="1"/>
          <p:nvPr/>
        </p:nvSpPr>
        <p:spPr>
          <a:xfrm>
            <a:off x="1800000" y="1980000"/>
            <a:ext cx="540000" cy="360000"/>
          </a:xfrm>
          <a:prstGeom prst="rect">
            <a:avLst/>
          </a:prstGeom>
        </p:spPr>
        <p:txBody>
          <a:bodyPr/>
          <a:lstStyle/>
          <a:p>
            <a:pPr algn="ctr"/>
            <a:r>
              <a:rPr lang="en-US" sz="1000" b="1">
                <a:solidFill>
                  <a:srgbClr val="FFFFFF"/>
                </a:solidFill>
                <a:latin typeface="Calibri"/>
                <a:ea typeface="Calibri"/>
              </a:rPr>
              <a:t>Phase 1</a:t>
            </a:r>
          </a:p>
        </p:txBody>
      </p:sp>
      <p:sp>
        <p:nvSpPr>
          <p:cNvPr id="100167" name="TextBox 6"/>
          <p:cNvSpPr/>
          <p:nvPr/>
        </p:nvSpPr>
        <p:spPr>
          <a:xfrm>
            <a:off x="5580000" y="2088000"/>
            <a:ext cx="540000" cy="540000"/>
          </a:xfrm>
          <a:prstGeom prst="ellipse">
            <a:avLst/>
          </a:prstGeom>
          <a:solidFill>
            <a:srgbClr val="065A82"/>
          </a:solidFill>
          <a:ln>
            <a:noFill/>
          </a:ln>
        </p:spPr>
        <p:txBody>
          <a:bodyPr/>
          <a:lstStyle/>
          <a:p/>
        </p:txBody>
      </p:sp>
      <p:sp>
        <p:nvSpPr>
          <p:cNvPr id="100168" name="TextBox 7"/>
          <p:cNvSpPr txBox="1"/>
          <p:nvPr/>
        </p:nvSpPr>
        <p:spPr>
          <a:xfrm>
            <a:off x="5580000" y="1980000"/>
            <a:ext cx="540000" cy="360000"/>
          </a:xfrm>
          <a:prstGeom prst="rect">
            <a:avLst/>
          </a:prstGeom>
        </p:spPr>
        <p:txBody>
          <a:bodyPr/>
          <a:lstStyle/>
          <a:p>
            <a:pPr algn="ctr"/>
            <a:r>
              <a:rPr lang="en-US" sz="1000" b="1">
                <a:solidFill>
                  <a:srgbClr val="FFFFFF"/>
                </a:solidFill>
                <a:latin typeface="Calibri"/>
                <a:ea typeface="Calibri"/>
              </a:rPr>
              <a:t>Phase 2</a:t>
            </a:r>
          </a:p>
        </p:txBody>
      </p:sp>
      <p:sp>
        <p:nvSpPr>
          <p:cNvPr id="100169" name="TextBox 8"/>
          <p:cNvSpPr/>
          <p:nvPr/>
        </p:nvSpPr>
        <p:spPr>
          <a:xfrm>
            <a:off x="9360000" y="2088000"/>
            <a:ext cx="540000" cy="540000"/>
          </a:xfrm>
          <a:prstGeom prst="ellipse">
            <a:avLst/>
          </a:prstGeom>
          <a:solidFill>
            <a:srgbClr val="1C7293"/>
          </a:solidFill>
          <a:ln>
            <a:noFill/>
          </a:ln>
        </p:spPr>
        <p:txBody>
          <a:bodyPr/>
          <a:lstStyle/>
          <a:p/>
        </p:txBody>
      </p:sp>
      <p:sp>
        <p:nvSpPr>
          <p:cNvPr id="100170" name="TextBox 9"/>
          <p:cNvSpPr txBox="1"/>
          <p:nvPr/>
        </p:nvSpPr>
        <p:spPr>
          <a:xfrm>
            <a:off x="9360000" y="1980000"/>
            <a:ext cx="540000" cy="360000"/>
          </a:xfrm>
          <a:prstGeom prst="rect">
            <a:avLst/>
          </a:prstGeom>
        </p:spPr>
        <p:txBody>
          <a:bodyPr/>
          <a:lstStyle/>
          <a:p>
            <a:pPr algn="ctr"/>
            <a:r>
              <a:rPr lang="en-US" sz="1000" b="1">
                <a:solidFill>
                  <a:srgbClr val="FFFFFF"/>
                </a:solidFill>
                <a:latin typeface="Calibri"/>
                <a:ea typeface="Calibri"/>
              </a:rPr>
              <a:t>Phase 3</a:t>
            </a:r>
          </a:p>
        </p:txBody>
      </p:sp>
      <p:sp>
        <p:nvSpPr>
          <p:cNvPr id="100171" name="P1Card"/>
          <p:cNvSpPr/>
          <p:nvPr/>
        </p:nvSpPr>
        <p:spPr>
          <a:xfrm>
            <a:off x="900000" y="2880000"/>
            <a:ext cx="3060000" cy="3240000"/>
          </a:xfrm>
          <a:prstGeom prst="roundRect">
            <a:avLst/>
          </a:prstGeom>
          <a:solidFill>
            <a:srgbClr val="1E2761"/>
          </a:solidFill>
          <a:ln>
            <a:noFill/>
          </a:ln>
        </p:spPr>
        <p:txBody>
          <a:bodyPr/>
          <a:lstStyle/>
          <a:p/>
        </p:txBody>
      </p:sp>
      <p:sp>
        <p:nvSpPr>
          <p:cNvPr id="100172" name="TextBox 11"/>
          <p:cNvSpPr txBox="1"/>
          <p:nvPr/>
        </p:nvSpPr>
        <p:spPr>
          <a:xfrm>
            <a:off x="1188000" y="3060000"/>
            <a:ext cx="2520000" cy="360000"/>
          </a:xfrm>
          <a:prstGeom prst="rect">
            <a:avLst/>
          </a:prstGeom>
        </p:spPr>
        <p:txBody>
          <a:bodyPr/>
          <a:lstStyle/>
          <a:p>
            <a:pPr algn="l"/>
            <a:r>
              <a:rPr lang="en-US" sz="1800" b="1">
                <a:solidFill>
                  <a:srgbClr val="FFFFFF"/>
                </a:solidFill>
                <a:latin typeface="Georgia"/>
                <a:ea typeface="Georgia"/>
              </a:rPr>
              <a:t>Phase 1 — MVP</a:t>
            </a:r>
          </a:p>
        </p:txBody>
      </p:sp>
      <p:sp>
        <p:nvSpPr>
          <p:cNvPr id="100173" name="TextBox 12"/>
          <p:cNvSpPr txBox="1"/>
          <p:nvPr/>
        </p:nvSpPr>
        <p:spPr>
          <a:xfrm>
            <a:off x="1188000" y="3600000"/>
            <a:ext cx="2520000" cy="2160000"/>
          </a:xfrm>
          <a:prstGeom prst="rect">
            <a:avLst/>
          </a:prstGeom>
        </p:spPr>
        <p:txBody>
          <a:bodyPr/>
          <a:lstStyle/>
          <a:p>
            <a:pPr algn="l"/>
            <a:r>
              <a:rPr lang="en-US" sz="1400">
                <a:solidFill>
                  <a:srgbClr val="CADCFC"/>
                </a:solidFill>
                <a:latin typeface="Calibri"/>
                <a:ea typeface="Calibri"/>
              </a:rPr>
              <a:t>Core backend API</a:t>
            </a:r>
          </a:p>
          <a:p>
            <a:pPr algn="l"/>
            <a:r>
              <a:rPr lang="en-US" sz="1400">
                <a:solidFill>
                  <a:srgbClr val="CADCFC"/>
                </a:solidFill>
                <a:latin typeface="Calibri"/>
                <a:ea typeface="Calibri"/>
              </a:rPr>
              <a:t>JWT authentication</a:t>
            </a:r>
          </a:p>
          <a:p>
            <a:pPr algn="l"/>
            <a:r>
              <a:rPr lang="en-US" sz="1400">
                <a:solidFill>
                  <a:srgbClr val="CADCFC"/>
                </a:solidFill>
                <a:latin typeface="Calibri"/>
                <a:ea typeface="Calibri"/>
              </a:rPr>
              <a:t>Agent CRUD</a:t>
            </a:r>
          </a:p>
          <a:p>
            <a:pPr algn="l"/>
            <a:r>
              <a:rPr lang="en-US" sz="1400">
                <a:solidFill>
                  <a:srgbClr val="CADCFC"/>
                </a:solidFill>
                <a:latin typeface="Calibri"/>
                <a:ea typeface="Calibri"/>
              </a:rPr>
              <a:t>Basic WebSocket</a:t>
            </a:r>
          </a:p>
          <a:p>
            <a:pPr algn="l"/>
            <a:r>
              <a:rPr lang="en-US" sz="1400">
                <a:solidFill>
                  <a:srgbClr val="CADCFC"/>
                </a:solidFill>
                <a:latin typeface="Calibri"/>
                <a:ea typeface="Calibri"/>
              </a:rPr>
              <a:t>PostgreSQL schema</a:t>
            </a:r>
          </a:p>
          <a:p>
            <a:pPr algn="l"/>
            <a:r>
              <a:rPr lang="en-US" sz="1400">
                <a:solidFill>
                  <a:srgbClr val="CADCFC"/>
                </a:solidFill>
                <a:latin typeface="Calibri"/>
                <a:ea typeface="Calibri"/>
              </a:rPr>
              <a:t>Docker deployment</a:t>
            </a:r>
          </a:p>
          <a:p>
            <a:pPr algn="l"/>
            <a:r>
              <a:rPr lang="en-US" sz="1400">
                <a:solidFill>
                  <a:srgbClr val="CADCFC"/>
                </a:solidFill>
                <a:latin typeface="Calibri"/>
                <a:ea typeface="Calibri"/>
              </a:rPr>
              <a:t>Web frontend scaffold</a:t>
            </a:r>
          </a:p>
        </p:txBody>
      </p:sp>
      <p:sp>
        <p:nvSpPr>
          <p:cNvPr id="100174" name="P2Card"/>
          <p:cNvSpPr/>
          <p:nvPr/>
        </p:nvSpPr>
        <p:spPr>
          <a:xfrm>
            <a:off x="4320000" y="2880000"/>
            <a:ext cx="3060000" cy="3240000"/>
          </a:xfrm>
          <a:prstGeom prst="roundRect">
            <a:avLst/>
          </a:prstGeom>
          <a:solidFill>
            <a:srgbClr val="065A82"/>
          </a:solidFill>
          <a:ln>
            <a:noFill/>
          </a:ln>
        </p:spPr>
        <p:txBody>
          <a:bodyPr/>
          <a:lstStyle/>
          <a:p/>
        </p:txBody>
      </p:sp>
      <p:sp>
        <p:nvSpPr>
          <p:cNvPr id="100175" name="TextBox 14"/>
          <p:cNvSpPr txBox="1"/>
          <p:nvPr/>
        </p:nvSpPr>
        <p:spPr>
          <a:xfrm>
            <a:off x="4608000" y="3060000"/>
            <a:ext cx="2520000" cy="360000"/>
          </a:xfrm>
          <a:prstGeom prst="rect">
            <a:avLst/>
          </a:prstGeom>
        </p:spPr>
        <p:txBody>
          <a:bodyPr/>
          <a:lstStyle/>
          <a:p>
            <a:pPr algn="l"/>
            <a:r>
              <a:rPr lang="en-US" sz="1800" b="1">
                <a:solidFill>
                  <a:srgbClr val="FFFFFF"/>
                </a:solidFill>
                <a:latin typeface="Georgia"/>
                <a:ea typeface="Georgia"/>
              </a:rPr>
              <a:t>Phase 2 — Visual</a:t>
            </a:r>
          </a:p>
        </p:txBody>
      </p:sp>
      <p:sp>
        <p:nvSpPr>
          <p:cNvPr id="100176" name="TextBox 15"/>
          <p:cNvSpPr txBox="1"/>
          <p:nvPr/>
        </p:nvSpPr>
        <p:spPr>
          <a:xfrm>
            <a:off x="4608000" y="3600000"/>
            <a:ext cx="2520000" cy="2160000"/>
          </a:xfrm>
          <a:prstGeom prst="rect">
            <a:avLst/>
          </a:prstGeom>
        </p:spPr>
        <p:txBody>
          <a:bodyPr/>
          <a:lstStyle/>
          <a:p>
            <a:pPr algn="l"/>
            <a:r>
              <a:rPr lang="en-US" sz="1400">
                <a:solidFill>
                  <a:srgbClr val="CADCFC"/>
                </a:solidFill>
                <a:latin typeface="Calibri"/>
                <a:ea typeface="Calibri"/>
              </a:rPr>
              <a:t>PixiJS office scene</a:t>
            </a:r>
          </a:p>
          <a:p>
            <a:pPr algn="l"/>
            <a:r>
              <a:rPr lang="en-US" sz="1400">
                <a:solidFill>
                  <a:srgbClr val="CADCFC"/>
                </a:solidFill>
                <a:latin typeface="Calibri"/>
                <a:ea typeface="Calibri"/>
              </a:rPr>
              <a:t>xterm.js terminal</a:t>
            </a:r>
          </a:p>
          <a:p>
            <a:pPr algn="l"/>
            <a:r>
              <a:rPr lang="en-US" sz="1400">
                <a:solidFill>
                  <a:srgbClr val="CADCFC"/>
                </a:solidFill>
                <a:latin typeface="Calibri"/>
                <a:ea typeface="Calibri"/>
              </a:rPr>
              <a:t>Monaco Editor</a:t>
            </a:r>
          </a:p>
          <a:p>
            <a:pPr algn="l"/>
            <a:r>
              <a:rPr lang="en-US" sz="1400">
                <a:solidFill>
                  <a:srgbClr val="CADCFC"/>
                </a:solidFill>
                <a:latin typeface="Calibri"/>
                <a:ea typeface="Calibri"/>
              </a:rPr>
              <a:t>Recharts dashboard</a:t>
            </a:r>
          </a:p>
          <a:p>
            <a:pPr algn="l"/>
            <a:r>
              <a:rPr lang="en-US" sz="1400">
                <a:solidFill>
                  <a:srgbClr val="CADCFC"/>
                </a:solidFill>
                <a:latin typeface="Calibri"/>
                <a:ea typeface="Calibri"/>
              </a:rPr>
              <a:t>WeChat mini-program</a:t>
            </a:r>
          </a:p>
          <a:p>
            <a:pPr algn="l"/>
            <a:r>
              <a:rPr lang="en-US" sz="1400">
                <a:solidFill>
                  <a:srgbClr val="CADCFC"/>
                </a:solidFill>
                <a:latin typeface="Calibri"/>
                <a:ea typeface="Calibri"/>
              </a:rPr>
              <a:t>Cron job engine</a:t>
            </a:r>
          </a:p>
          <a:p>
            <a:pPr algn="l"/>
            <a:r>
              <a:rPr lang="en-US" sz="1400">
                <a:solidFill>
                  <a:srgbClr val="CADCFC"/>
                </a:solidFill>
                <a:latin typeface="Calibri"/>
                <a:ea typeface="Calibri"/>
              </a:rPr>
              <a:t>Agent orchestrator</a:t>
            </a:r>
          </a:p>
        </p:txBody>
      </p:sp>
      <p:sp>
        <p:nvSpPr>
          <p:cNvPr id="100177" name="P3Card"/>
          <p:cNvSpPr/>
          <p:nvPr/>
        </p:nvSpPr>
        <p:spPr>
          <a:xfrm>
            <a:off x="7740000" y="2880000"/>
            <a:ext cx="3060000" cy="3240000"/>
          </a:xfrm>
          <a:prstGeom prst="roundRect">
            <a:avLst/>
          </a:prstGeom>
          <a:solidFill>
            <a:srgbClr val="1C7293"/>
          </a:solidFill>
          <a:ln>
            <a:noFill/>
          </a:ln>
        </p:spPr>
        <p:txBody>
          <a:bodyPr/>
          <a:lstStyle/>
          <a:p/>
        </p:txBody>
      </p:sp>
      <p:sp>
        <p:nvSpPr>
          <p:cNvPr id="100178" name="TextBox 17"/>
          <p:cNvSpPr txBox="1"/>
          <p:nvPr/>
        </p:nvSpPr>
        <p:spPr>
          <a:xfrm>
            <a:off x="8028000" y="3060000"/>
            <a:ext cx="2520000" cy="360000"/>
          </a:xfrm>
          <a:prstGeom prst="rect">
            <a:avLst/>
          </a:prstGeom>
        </p:spPr>
        <p:txBody>
          <a:bodyPr/>
          <a:lstStyle/>
          <a:p>
            <a:pPr algn="l"/>
            <a:r>
              <a:rPr lang="en-US" sz="1800" b="1">
                <a:solidFill>
                  <a:srgbClr val="FFFFFF"/>
                </a:solidFill>
                <a:latin typeface="Georgia"/>
                <a:ea typeface="Georgia"/>
              </a:rPr>
              <a:t>Phase 3 — Scale</a:t>
            </a:r>
          </a:p>
        </p:txBody>
      </p:sp>
      <p:sp>
        <p:nvSpPr>
          <p:cNvPr id="100179" name="TextBox 18"/>
          <p:cNvSpPr txBox="1"/>
          <p:nvPr/>
        </p:nvSpPr>
        <p:spPr>
          <a:xfrm>
            <a:off x="8028000" y="3600000"/>
            <a:ext cx="2520000" cy="2160000"/>
          </a:xfrm>
          <a:prstGeom prst="rect">
            <a:avLst/>
          </a:prstGeom>
        </p:spPr>
        <p:txBody>
          <a:bodyPr/>
          <a:lstStyle/>
          <a:p>
            <a:pPr algn="l"/>
            <a:r>
              <a:rPr lang="en-US" sz="1400">
                <a:solidFill>
                  <a:srgbClr val="CADCFC"/>
                </a:solidFill>
                <a:latin typeface="Calibri"/>
                <a:ea typeface="Calibri"/>
              </a:rPr>
              <a:t>K8s deployment</a:t>
            </a:r>
          </a:p>
          <a:p>
            <a:pPr algn="l"/>
            <a:r>
              <a:rPr lang="en-US" sz="1400">
                <a:solidFill>
                  <a:srgbClr val="CADCFC"/>
                </a:solidFill>
                <a:latin typeface="Calibri"/>
                <a:ea typeface="Calibri"/>
              </a:rPr>
              <a:t>Horizontal scaling</a:t>
            </a:r>
          </a:p>
          <a:p>
            <a:pPr algn="l"/>
            <a:r>
              <a:rPr lang="en-US" sz="1400">
                <a:solidFill>
                  <a:srgbClr val="CADCFC"/>
                </a:solidFill>
                <a:latin typeface="Calibri"/>
                <a:ea typeface="Calibri"/>
              </a:rPr>
              <a:t>WeChat OA integration</a:t>
            </a:r>
          </a:p>
          <a:p>
            <a:pPr algn="l"/>
            <a:r>
              <a:rPr lang="en-US" sz="1400">
                <a:solidFill>
                  <a:srgbClr val="CADCFC"/>
                </a:solidFill>
                <a:latin typeface="Calibri"/>
                <a:ea typeface="Calibri"/>
              </a:rPr>
              <a:t>NLP command parsing</a:t>
            </a:r>
          </a:p>
          <a:p>
            <a:pPr algn="l"/>
            <a:r>
              <a:rPr lang="en-US" sz="1400">
                <a:solidFill>
                  <a:srgbClr val="CADCFC"/>
                </a:solidFill>
                <a:latin typeface="Calibri"/>
                <a:ea typeface="Calibri"/>
              </a:rPr>
              <a:t>Advanced analytics</a:t>
            </a:r>
          </a:p>
          <a:p>
            <a:pPr algn="l"/>
            <a:r>
              <a:rPr lang="en-US" sz="1400">
                <a:solidFill>
                  <a:srgbClr val="CADCFC"/>
                </a:solidFill>
                <a:latin typeface="Calibri"/>
                <a:ea typeface="Calibri"/>
              </a:rPr>
              <a:t>Team collaboration</a:t>
            </a:r>
          </a:p>
          <a:p>
            <a:pPr algn="l"/>
            <a:r>
              <a:rPr lang="en-US" sz="1400">
                <a:solidFill>
                  <a:srgbClr val="CADCFC"/>
                </a:solidFill>
                <a:latin typeface="Calibri"/>
                <a:ea typeface="Calibri"/>
              </a:rPr>
              <a:t>Plugin marketplace</a:t>
            </a:r>
          </a:p>
        </p:txBody>
      </p:sp>
    </p:spTree>
  </p:cSld>
</p:sld>
</file>

<file path=ppt/slides/slide13.xml><?xml version="1.0" encoding="utf-8"?>
<p:sld xmlns:a="http://schemas.openxmlformats.org/drawingml/2006/main" xmlns:p="http://schemas.openxmlformats.org/presentationml/2006/main">
  <p:cSld>
    <p:bg>
      <p:bgPr>
        <a:solidFill xmlns:a="http://schemas.openxmlformats.org/drawingml/2006/main">
          <a:srgbClr val="1E2761"/>
        </a:solidFill>
      </p:bgPr>
    </p:bg>
    <p:spTree>
      <p:nvGrpSpPr>
        <p:cNvPr id="1" name=""/>
        <p:cNvGrpSpPr/>
        <p:nvPr/>
      </p:nvGrpSpPr>
      <p:grpSpPr/>
      <p:sp>
        <p:nvSpPr>
          <p:cNvPr id="100180" name="TextBox 1"/>
          <p:cNvSpPr/>
          <p:nvPr/>
        </p:nvSpPr>
        <p:spPr>
          <a:xfrm>
            <a:off x="0" y="0"/>
            <a:ext cx="144000" cy="6858000"/>
          </a:xfrm>
          <a:prstGeom prst="rect">
            <a:avLst/>
          </a:prstGeom>
          <a:solidFill>
            <a:srgbClr val="CADCFC">
              <a:alpha val="80000"/>
            </a:srgbClr>
          </a:solidFill>
          <a:ln>
            <a:noFill/>
          </a:ln>
        </p:spPr>
        <p:txBody>
          <a:bodyPr/>
          <a:lstStyle/>
          <a:p/>
        </p:txBody>
      </p:sp>
      <p:sp>
        <p:nvSpPr>
          <p:cNvPr id="100181" name="TextBox 2"/>
          <p:cNvSpPr txBox="1"/>
          <p:nvPr/>
        </p:nvSpPr>
        <p:spPr>
          <a:xfrm>
            <a:off x="900000" y="1800000"/>
            <a:ext cx="10440000" cy="1260000"/>
          </a:xfrm>
          <a:prstGeom prst="rect">
            <a:avLst/>
          </a:prstGeom>
        </p:spPr>
        <p:txBody>
          <a:bodyPr/>
          <a:lstStyle/>
          <a:p>
            <a:pPr algn="ctr"/>
            <a:r>
              <a:rPr lang="en-US" sz="4800" b="1">
                <a:solidFill>
                  <a:srgbClr val="FFFFFF"/>
                </a:solidFill>
                <a:latin typeface="Georgia"/>
                <a:ea typeface="Georgia"/>
              </a:rPr>
              <a:t>Thank You</a:t>
            </a:r>
          </a:p>
        </p:txBody>
      </p:sp>
      <p:sp>
        <p:nvSpPr>
          <p:cNvPr id="100182" name="TextBox 3"/>
          <p:cNvSpPr txBox="1"/>
          <p:nvPr/>
        </p:nvSpPr>
        <p:spPr>
          <a:xfrm>
            <a:off x="900000" y="3420000"/>
            <a:ext cx="10440000" cy="540000"/>
          </a:xfrm>
          <a:prstGeom prst="rect">
            <a:avLst/>
          </a:prstGeom>
        </p:spPr>
        <p:txBody>
          <a:bodyPr/>
          <a:lstStyle/>
          <a:p>
            <a:pPr algn="ctr"/>
            <a:r>
              <a:rPr lang="en-US" sz="2000">
                <a:solidFill>
                  <a:srgbClr val="CADCFC"/>
                </a:solidFill>
                <a:latin typeface="Calibri"/>
                <a:ea typeface="Calibri"/>
              </a:rPr>
              <a:t>Claude Code Management System — AI 子 Agent 协同管理中控台</a:t>
            </a:r>
          </a:p>
        </p:txBody>
      </p:sp>
      <p:sp>
        <p:nvSpPr>
          <p:cNvPr id="100183" name="TextBox 4"/>
          <p:cNvSpPr txBox="1"/>
          <p:nvPr/>
        </p:nvSpPr>
        <p:spPr>
          <a:xfrm>
            <a:off x="900000" y="4320000"/>
            <a:ext cx="10440000" cy="432000"/>
          </a:xfrm>
          <a:prstGeom prst="rect">
            <a:avLst/>
          </a:prstGeom>
        </p:spPr>
        <p:txBody>
          <a:bodyPr/>
          <a:lstStyle/>
          <a:p>
            <a:pPr algn="ctr"/>
            <a:r>
              <a:rPr lang="en-US" sz="1800">
                <a:solidFill>
                  <a:srgbClr val="8899BB"/>
                </a:solidFill>
                <a:latin typeface="Calibri"/>
                <a:ea typeface="Calibri"/>
              </a:rPr>
              <a:t>Questions &amp; Discussion</a:t>
            </a:r>
          </a:p>
        </p:txBody>
      </p:sp>
      <p:sp>
        <p:nvSpPr>
          <p:cNvPr id="100184" name="TextBox 5"/>
          <p:cNvSpPr txBox="1"/>
          <p:nvPr/>
        </p:nvSpPr>
        <p:spPr>
          <a:xfrm>
            <a:off x="900000" y="5580000"/>
            <a:ext cx="10440000" cy="360000"/>
          </a:xfrm>
          <a:prstGeom prst="rect">
            <a:avLst/>
          </a:prstGeom>
        </p:spPr>
        <p:txBody>
          <a:bodyPr/>
          <a:lstStyle/>
          <a:p>
            <a:pPr algn="ctr"/>
            <a:r>
              <a:rPr lang="en-US" sz="1400">
                <a:solidFill>
                  <a:srgbClr val="8899BB"/>
                </a:solidFill>
                <a:latin typeface="Calibri"/>
                <a:ea typeface="Calibri"/>
              </a:rPr>
              <a:t>CCMS Team  |  2026.06  |  v0.1.0  |  github.com/ccms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OfficeCLI/1.0.115</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2026-06-21T10:01:37Z</dcterms:created>
  <cp:lastModifiedBy>OfficeCLI</cp:lastModifiedBy>
  <dcterms:modified xsi:type="dcterms:W3CDTF">2026-06-21T10:01:37Z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1.0.115</vt:lpwstr>
  </op:property>
  <op:property fmtid="{D5CDD505-2E9C-101B-9397-08002B2CF9AE}" pid="3" name="OfficeCLI.LastModified">
    <vt:lpwstr xmlns:vt="http://schemas.openxmlformats.org/officeDocument/2006/docPropsVTypes">2026-06-21T10:07:48Z</vt:lpwstr>
  </op:property>
</op:Properties>
</file>