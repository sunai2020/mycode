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99386" y="780017"/>
            <a:ext cx="64468" cy="64468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74966" y="4195462"/>
            <a:ext cx="133254" cy="13325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77396" y="1910493"/>
            <a:ext cx="48164" cy="4816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07615" y="4376485"/>
            <a:ext cx="138782" cy="13878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64424" y="3331927"/>
            <a:ext cx="127505" cy="12750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24396" y="1762918"/>
            <a:ext cx="64034" cy="6403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88524" y="891360"/>
            <a:ext cx="88830" cy="8883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46338" y="3923353"/>
            <a:ext cx="108057" cy="10805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40666" y="5282684"/>
            <a:ext cx="163017" cy="16301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35468" y="5782568"/>
            <a:ext cx="81374" cy="8137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49440" y="1251766"/>
            <a:ext cx="103348" cy="103348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2398" y="3898760"/>
            <a:ext cx="84885" cy="8488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921188" y="4064309"/>
            <a:ext cx="100415" cy="10041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26906" y="5864574"/>
            <a:ext cx="87732" cy="8773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91070" y="2612081"/>
            <a:ext cx="64619" cy="6461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45461" y="3612961"/>
            <a:ext cx="48456" cy="4845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030766" y="1208701"/>
            <a:ext cx="102483" cy="10248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4735" y="1696834"/>
            <a:ext cx="182518" cy="182518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260996" y="2535932"/>
            <a:ext cx="52059" cy="5205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65300" y="1181677"/>
            <a:ext cx="61125" cy="6112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457200"/>
            <a:ext cx="121916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554480"/>
            <a:ext cx="121916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2651760"/>
            <a:ext cx="121916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3749039"/>
            <a:ext cx="121916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846320"/>
            <a:ext cx="121916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943600"/>
            <a:ext cx="121916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7040879"/>
            <a:ext cx="121916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914400"/>
            <a:ext cx="18288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2103120"/>
            <a:ext cx="18288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3291840"/>
            <a:ext cx="18288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480560"/>
            <a:ext cx="18288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5669280"/>
            <a:ext cx="18288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0" y="20116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FFFF"/>
                </a:solidFill>
              </a:defRPr>
            </a:pPr>
            <a:r>
              <a:t>太原市网络空间安全协会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3291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第一届理事会工作总结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4389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C8FF"/>
                </a:solidFill>
              </a:defRPr>
            </a:pPr>
            <a:r>
              <a:t>2024 - 2025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83485" y="3809738"/>
            <a:ext cx="141026" cy="14102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56806" y="5685103"/>
            <a:ext cx="172455" cy="17245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40769" y="4563418"/>
            <a:ext cx="172286" cy="17228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27342" y="2024047"/>
            <a:ext cx="97396" cy="9739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32597" y="1596672"/>
            <a:ext cx="150891" cy="15089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83396" y="1075235"/>
            <a:ext cx="109900" cy="1099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08909" y="2241710"/>
            <a:ext cx="157108" cy="157108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70913" y="3282877"/>
            <a:ext cx="61651" cy="6165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56259" y="2163247"/>
            <a:ext cx="128054" cy="12805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54022" y="1084712"/>
            <a:ext cx="81965" cy="8196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58516" y="3090907"/>
            <a:ext cx="148672" cy="14867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128198" y="3690164"/>
            <a:ext cx="60393" cy="6039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57200"/>
            <a:ext cx="91440" cy="6400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目 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143000"/>
            <a:ext cx="1161288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71600" y="1463040"/>
            <a:ext cx="9448495" cy="8686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45920" y="16916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FF"/>
                </a:solidFill>
              </a:defRPr>
            </a:pPr>
            <a: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1600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协会工作情况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6002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2024-2025年度工作回顾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71600" y="2468880"/>
            <a:ext cx="9448495" cy="8686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2697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FF"/>
                </a:solidFill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260604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工作亮点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60604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核心成就与突出贡献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0" y="3474720"/>
            <a:ext cx="9448495" cy="8686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45920" y="3703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FF"/>
                </a:solidFill>
              </a:defRPr>
            </a:pPr>
            <a: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3611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存在问题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6118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当前面临的挑战与不足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71600" y="4480560"/>
            <a:ext cx="9448495" cy="8686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45920" y="4709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FF"/>
                </a:solidFill>
              </a:defRPr>
            </a:pPr>
            <a: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461772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下一步工作计划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6177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未来发展蓝图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71600" y="5486400"/>
            <a:ext cx="9448495" cy="8686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45920" y="5715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FF"/>
                </a:solidFill>
              </a:defRPr>
            </a:pPr>
            <a: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56235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第二届理事会推荐名单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6235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新一届领导团队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15355" y="4893274"/>
            <a:ext cx="179164" cy="17916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4556" y="3307167"/>
            <a:ext cx="156770" cy="15677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74088" y="3280060"/>
            <a:ext cx="113801" cy="11380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996" y="974136"/>
            <a:ext cx="71550" cy="7155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15543" y="1119078"/>
            <a:ext cx="142172" cy="14217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20123" y="5817921"/>
            <a:ext cx="131459" cy="13145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37991" y="967999"/>
            <a:ext cx="76383" cy="7638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280744" y="1805300"/>
            <a:ext cx="150447" cy="15044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4529" y="3581566"/>
            <a:ext cx="103644" cy="10364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6139" y="4681954"/>
            <a:ext cx="75059" cy="7505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57200"/>
            <a:ext cx="91440" cy="6400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2024年工作情况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1143000"/>
            <a:ext cx="1161288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2286000"/>
            <a:ext cx="18288" cy="3200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7240" y="1554480"/>
            <a:ext cx="182880" cy="18288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88720" y="1280160"/>
            <a:ext cx="4572000" cy="10058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137160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【7月】向太原市委网信办专题汇报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173736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明晰协会定位与发展路径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3611879"/>
            <a:ext cx="18288" cy="3200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" y="2880359"/>
            <a:ext cx="182880" cy="18288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88720" y="2606039"/>
            <a:ext cx="4572000" cy="10058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2697479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【9月】参与网络安全宣传周启动仪式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063239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普及网络安全知识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" y="4937760"/>
            <a:ext cx="18288" cy="3200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7240" y="4206240"/>
            <a:ext cx="182880" cy="18288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88720" y="3931920"/>
            <a:ext cx="4572000" cy="10058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0" y="402336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【9月】配合市公安局开展法制主题日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38912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强化市民网络安全法律意识</a:t>
            </a:r>
          </a:p>
        </p:txBody>
      </p:sp>
      <p:sp>
        <p:nvSpPr>
          <p:cNvPr id="53" name="Oval 52"/>
          <p:cNvSpPr/>
          <p:nvPr/>
        </p:nvSpPr>
        <p:spPr>
          <a:xfrm>
            <a:off x="777240" y="5532120"/>
            <a:ext cx="182880" cy="18288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88720" y="5257800"/>
            <a:ext cx="4572000" cy="10058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534924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【10月】召开第一届会员大会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571500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正式成立协会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2286000"/>
            <a:ext cx="18288" cy="3200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263640" y="1554480"/>
            <a:ext cx="182880" cy="18288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75120" y="1280160"/>
            <a:ext cx="4572000" cy="10058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137160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【10月】主办卫生健康网络安全培训班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173736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38家医疗机构140余人参与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55080" y="3611879"/>
            <a:ext cx="18288" cy="3200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63640" y="2880359"/>
            <a:ext cx="182880" cy="18288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675120" y="2606039"/>
            <a:ext cx="4572000" cy="10058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2697479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【11月】赴市科协拜访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3063239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提交加入市科协申请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5080" y="4937760"/>
            <a:ext cx="18288" cy="3200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263640" y="4206240"/>
            <a:ext cx="182880" cy="18288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675120" y="3931920"/>
            <a:ext cx="4572000" cy="10058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402336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【12月】参加企业社会责任蓝皮书发布会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0" y="438912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深化跨领域合作</a:t>
            </a:r>
          </a:p>
        </p:txBody>
      </p:sp>
      <p:sp>
        <p:nvSpPr>
          <p:cNvPr id="72" name="Oval 71"/>
          <p:cNvSpPr/>
          <p:nvPr/>
        </p:nvSpPr>
        <p:spPr>
          <a:xfrm>
            <a:off x="6263640" y="5532120"/>
            <a:ext cx="182880" cy="18288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675120" y="5257800"/>
            <a:ext cx="4572000" cy="10058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534924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【12月】联合举办国企等保测评培训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571500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市属国企150余人参加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38724" y="1047486"/>
            <a:ext cx="144550" cy="14455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60254" y="2443830"/>
            <a:ext cx="182499" cy="18249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89554" y="1134916"/>
            <a:ext cx="65953" cy="6595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30282" y="741274"/>
            <a:ext cx="173390" cy="17339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9544" y="4636211"/>
            <a:ext cx="160014" cy="16001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46030" y="1905261"/>
            <a:ext cx="168278" cy="168278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06973" y="3467288"/>
            <a:ext cx="131249" cy="13124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49704" y="5580940"/>
            <a:ext cx="47756" cy="4775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66726" y="4124242"/>
            <a:ext cx="47987" cy="4798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87635" y="4926266"/>
            <a:ext cx="91031" cy="9103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57200"/>
            <a:ext cx="91440" cy="6400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2025年协会成立后工作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1143000"/>
            <a:ext cx="1161288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1280160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1280160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137160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【1月】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737360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取得社会团体法人登记证书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228600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完成正式注册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017520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3017520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31089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【3月】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3474720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向市委网信办和市公安局汇报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0233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获得主管部门支持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754879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8640" y="4754879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84631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【4月】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212079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医疗机构安全巡检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76071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发现大量安全隐患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1280160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297680" y="1280160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0560" y="137160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【5月】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1737360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承办首席网络安全官培训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228600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市委网信办/市公安局/国资委主办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3017520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297680" y="3017520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0" y="31089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【5月】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3474720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走访调研测评机构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80560" y="40233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了解测评市场现状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4754879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297680" y="4754879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0" y="484631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【6月】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80560" y="5212079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成立党支部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576071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吴占分任党支部书记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1280160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046719" y="1280160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0" y="137160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【6月】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1737360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签署等保测评自律公约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228600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省内六家机构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3017520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46719" y="3017520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31089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【7月】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3474720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邀请云时代公司考察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40233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技术交流合作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63840" y="4754879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046719" y="4754879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0" y="484631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【9月】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5212079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国企入户安全辅导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576071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近20家市属国企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63840" y="6492240"/>
            <a:ext cx="91440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046719" y="6492240"/>
            <a:ext cx="3" cy="146304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29600" y="658368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【10月】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0" y="6949440"/>
            <a:ext cx="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开通协会公众号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0" y="749808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增加宣传渠道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1139" y="1525966"/>
            <a:ext cx="177200" cy="17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27571" y="1036782"/>
            <a:ext cx="106356" cy="10635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295" y="1208748"/>
            <a:ext cx="70697" cy="7069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14368" y="5675147"/>
            <a:ext cx="109015" cy="10901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48618" y="2295872"/>
            <a:ext cx="47647" cy="4764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74971" y="4051487"/>
            <a:ext cx="59571" cy="5957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90408" y="2268430"/>
            <a:ext cx="114459" cy="11445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60011" y="1164491"/>
            <a:ext cx="136276" cy="13627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81450" y="509466"/>
            <a:ext cx="81803" cy="8180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24" y="2351824"/>
            <a:ext cx="153697" cy="15369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00044" y="5568368"/>
            <a:ext cx="181261" cy="18126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65014" y="5007854"/>
            <a:ext cx="78984" cy="7898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988211" y="2492298"/>
            <a:ext cx="168283" cy="16828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32627" y="1622643"/>
            <a:ext cx="65957" cy="6595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28369" y="5099963"/>
            <a:ext cx="60888" cy="60888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57200"/>
            <a:ext cx="91440" cy="6400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工作亮点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1143000"/>
            <a:ext cx="1161288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1520" y="1371600"/>
            <a:ext cx="3657600" cy="4754880"/>
          </a:xfrm>
          <a:prstGeom prst="roundRect">
            <a:avLst/>
          </a:prstGeom>
          <a:solidFill>
            <a:srgbClr val="001E46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1520" y="1371600"/>
            <a:ext cx="3657600" cy="13716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16459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0FFFF"/>
                </a:solidFill>
              </a:defRPr>
            </a:pPr>
            <a: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26517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高效筹建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88720" y="3291840"/>
            <a:ext cx="27432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3566160"/>
            <a:ext cx="3291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从筹备汇报到正式成立</a:t>
            </a:r>
            <a:br/>
            <a:r>
              <a:t>仅用时5个月</a:t>
            </a:r>
            <a:br/>
            <a:r>
              <a:t>彰显卓越组织协调能力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1371600"/>
            <a:ext cx="3657600" cy="4754880"/>
          </a:xfrm>
          <a:prstGeom prst="roundRect">
            <a:avLst/>
          </a:prstGeom>
          <a:solidFill>
            <a:srgbClr val="001E46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0" y="1371600"/>
            <a:ext cx="3657600" cy="13716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16459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0FFFF"/>
                </a:solidFill>
              </a:defRPr>
            </a:pPr>
            <a: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26517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精准服务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3291840"/>
            <a:ext cx="27432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0" y="3566160"/>
            <a:ext cx="3291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聚焦医疗、国企等关键领域</a:t>
            </a:r>
            <a:br/>
            <a:r>
              <a:t>累计覆盖近500名专业人员</a:t>
            </a:r>
            <a:br/>
            <a:r>
              <a:t>提升重点行业防护水平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1371600"/>
            <a:ext cx="3657600" cy="4754880"/>
          </a:xfrm>
          <a:prstGeom prst="roundRect">
            <a:avLst/>
          </a:prstGeom>
          <a:solidFill>
            <a:srgbClr val="001E46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412480" y="1371600"/>
            <a:ext cx="3657600" cy="13716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16459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0FFFF"/>
                </a:solidFill>
              </a:defRPr>
            </a:pPr>
            <a: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26517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政社协同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3291840"/>
            <a:ext cx="2743200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3566160"/>
            <a:ext cx="3291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与网信办、公安局等部门深度合作</a:t>
            </a:r>
            <a:br/>
            <a:r>
              <a:t>参与各项活动</a:t>
            </a:r>
            <a:br/>
            <a:r>
              <a:t>增强社会公信力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32098" y="3423736"/>
            <a:ext cx="116870" cy="11687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62298" y="3455060"/>
            <a:ext cx="134566" cy="13456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602" y="2732211"/>
            <a:ext cx="88170" cy="8817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0268" y="5431868"/>
            <a:ext cx="108836" cy="10883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4370" y="5196832"/>
            <a:ext cx="131567" cy="13156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7794" y="2776816"/>
            <a:ext cx="92577" cy="9257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28470" y="4718558"/>
            <a:ext cx="119049" cy="11904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27833" y="5398033"/>
            <a:ext cx="108247" cy="10824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94546" y="2350172"/>
            <a:ext cx="136889" cy="13688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41580" y="3860789"/>
            <a:ext cx="144079" cy="14407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0473" y="5817876"/>
            <a:ext cx="103241" cy="10324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41418" y="3639897"/>
            <a:ext cx="170425" cy="17042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57200"/>
            <a:ext cx="91440" cy="6400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</a:defRPr>
            </a:pPr>
            <a:r>
              <a:t>存在问题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143000"/>
            <a:ext cx="1161288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74320" y="1280160"/>
            <a:ext cx="3749039" cy="256032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1280160"/>
            <a:ext cx="73152" cy="256032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14173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696"/>
                </a:solidFill>
              </a:defRPr>
            </a:pPr>
            <a:r>
              <a:t>⚠ 架构不完整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187452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缺乏会员基础和社会知名度</a:t>
            </a:r>
            <a:br/>
            <a:r>
              <a:t>• 等保测评自律委员会未运作</a:t>
            </a:r>
            <a:br/>
            <a:r>
              <a:t>• 专家委员会未组建</a:t>
            </a:r>
            <a:br/>
            <a:r>
              <a:t>• 党支部活动缺失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51959" y="1280160"/>
            <a:ext cx="3749039" cy="256032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51959" y="1280160"/>
            <a:ext cx="73152" cy="256032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39" y="14173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696"/>
                </a:solidFill>
              </a:defRPr>
            </a:pPr>
            <a:r>
              <a:t>⚠ 人手不足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39" y="187452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缺乏专职工作人员</a:t>
            </a:r>
            <a:br/>
            <a:r>
              <a:t>• 各项工作难以开展</a:t>
            </a:r>
            <a:br/>
            <a:r>
              <a:t>• 经常顾此失彼，难以周全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1280160"/>
            <a:ext cx="3749039" cy="256032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1280160"/>
            <a:ext cx="73152" cy="256032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14173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696"/>
                </a:solidFill>
              </a:defRPr>
            </a:pPr>
            <a:r>
              <a:t>⚠ 经费困难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187452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秘书长、理事长工资赊欠</a:t>
            </a:r>
            <a:br/>
            <a:r>
              <a:t>• 无经费签约代理记账</a:t>
            </a:r>
            <a:br/>
            <a:r>
              <a:t>• 房租、注册资金由个人垫付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4114800"/>
            <a:ext cx="3749039" cy="256032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4114800"/>
            <a:ext cx="73152" cy="256032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25196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696"/>
                </a:solidFill>
              </a:defRPr>
            </a:pPr>
            <a:r>
              <a:t>⚠ 活动不足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70916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学术交流、专题培训太少</a:t>
            </a:r>
            <a:br/>
            <a:r>
              <a:t>• 缺乏行业号召力和领导力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59" y="4114800"/>
            <a:ext cx="3749039" cy="256032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51959" y="4114800"/>
            <a:ext cx="73152" cy="256032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39" y="425196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696"/>
                </a:solidFill>
              </a:defRPr>
            </a:pPr>
            <a:r>
              <a:t>⚠ 公众号问题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39" y="470916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没有专人负责</a:t>
            </a:r>
            <a:br/>
            <a:r>
              <a:t>• 文章少，编排不专业</a:t>
            </a:r>
            <a:br/>
            <a:r>
              <a:t>• 宣传力度差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0" y="4114800"/>
            <a:ext cx="3749039" cy="256032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0" y="4114800"/>
            <a:ext cx="73152" cy="256032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425196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696"/>
                </a:solidFill>
              </a:defRPr>
            </a:pPr>
            <a:r>
              <a:t>⚠ 软件开发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470916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等保测评打卡软件开发缓慢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54720" y="3312805"/>
            <a:ext cx="49801" cy="4980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3996" y="2765420"/>
            <a:ext cx="181446" cy="18144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69093" y="2629304"/>
            <a:ext cx="140056" cy="14005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85418" y="1322624"/>
            <a:ext cx="150484" cy="15048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07435" y="1866973"/>
            <a:ext cx="97010" cy="9701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81862" y="899925"/>
            <a:ext cx="157102" cy="15710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36944" y="3382529"/>
            <a:ext cx="98927" cy="9892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97001" y="3324739"/>
            <a:ext cx="115983" cy="11598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22666" y="3980551"/>
            <a:ext cx="80108" cy="80108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73272" y="4491317"/>
            <a:ext cx="146948" cy="146948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71045" y="775243"/>
            <a:ext cx="48469" cy="4846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65643" y="2998283"/>
            <a:ext cx="106023" cy="10602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57200"/>
            <a:ext cx="91440" cy="6400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下一步工作计划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143000"/>
            <a:ext cx="1161288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080" y="1417320"/>
            <a:ext cx="731520" cy="731520"/>
          </a:xfrm>
          <a:prstGeom prst="ellipse">
            <a:avLst/>
          </a:prstGeom>
          <a:solidFill>
            <a:srgbClr val="00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A1432"/>
                </a:solidFill>
              </a:defRPr>
            </a:pPr>
            <a: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45920" y="1280160"/>
            <a:ext cx="9875520" cy="10972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0240" y="14173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</a:defRPr>
            </a:pPr>
            <a:r>
              <a:t>召开理事长办公会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192024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总结工作，提议架构重组，推荐第二届理事会人选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" y="2743199"/>
            <a:ext cx="731520" cy="731520"/>
          </a:xfrm>
          <a:prstGeom prst="ellipse">
            <a:avLst/>
          </a:prstGeom>
          <a:solidFill>
            <a:srgbClr val="00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292607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A1432"/>
                </a:solidFill>
              </a:defRPr>
            </a:pPr>
            <a: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45920" y="2606039"/>
            <a:ext cx="9875520" cy="10972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0240" y="2743199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</a:defRPr>
            </a:pPr>
            <a:r>
              <a:t>召开第二届会员大会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3246119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选举新一届理事会成员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" y="4069080"/>
            <a:ext cx="731520" cy="731520"/>
          </a:xfrm>
          <a:prstGeom prst="ellipse">
            <a:avLst/>
          </a:prstGeom>
          <a:solidFill>
            <a:srgbClr val="00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251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A1432"/>
                </a:solidFill>
              </a:defRPr>
            </a:pPr>
            <a: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45920" y="3931920"/>
            <a:ext cx="9875520" cy="10972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0240" y="406908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</a:defRPr>
            </a:pPr>
            <a:r>
              <a:t>召开第二届理事会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457200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选举理事长、副理事长，聘任秘书长</a:t>
            </a:r>
          </a:p>
        </p:txBody>
      </p:sp>
      <p:sp>
        <p:nvSpPr>
          <p:cNvPr id="55" name="Oval 54"/>
          <p:cNvSpPr/>
          <p:nvPr/>
        </p:nvSpPr>
        <p:spPr>
          <a:xfrm>
            <a:off x="640080" y="5394960"/>
            <a:ext cx="731520" cy="731520"/>
          </a:xfrm>
          <a:prstGeom prst="ellipse">
            <a:avLst/>
          </a:prstGeom>
          <a:solidFill>
            <a:srgbClr val="00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577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A1432"/>
                </a:solidFill>
              </a:defRPr>
            </a:pPr>
            <a:r>
              <a:t>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645920" y="5257800"/>
            <a:ext cx="9875520" cy="1097280"/>
          </a:xfrm>
          <a:prstGeom prst="roundRect">
            <a:avLst/>
          </a:prstGeom>
          <a:solidFill>
            <a:srgbClr val="003264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20240" y="539496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</a:defRPr>
            </a:pPr>
            <a:r>
              <a:t>召开第二届理事长办公会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589788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部署下一步工作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18581" y="4176587"/>
            <a:ext cx="48354" cy="4835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35752" y="3089828"/>
            <a:ext cx="46980" cy="4698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98369" y="481521"/>
            <a:ext cx="177381" cy="17738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5405" y="1963456"/>
            <a:ext cx="132092" cy="13209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6200" y="571257"/>
            <a:ext cx="119869" cy="11986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07981" y="2187252"/>
            <a:ext cx="136996" cy="13699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5510" y="5707496"/>
            <a:ext cx="138205" cy="13820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17980" y="807238"/>
            <a:ext cx="58337" cy="5833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17126" y="1539128"/>
            <a:ext cx="82427" cy="8242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54097" y="3261119"/>
            <a:ext cx="148589" cy="14858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049262" y="3790035"/>
            <a:ext cx="128344" cy="12834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24665" y="2079153"/>
            <a:ext cx="158573" cy="15857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57200"/>
            <a:ext cx="91440" cy="6400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FFF"/>
                </a:solidFill>
              </a:defRPr>
            </a:pPr>
            <a:r>
              <a:t>第二届理事会推荐名单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143000"/>
            <a:ext cx="1161288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</a:defRPr>
            </a:pPr>
            <a:r>
              <a:t>协会领导层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1645920"/>
            <a:ext cx="5669280" cy="4754880"/>
          </a:xfrm>
          <a:prstGeom prst="roundRect">
            <a:avLst/>
          </a:prstGeom>
          <a:solidFill>
            <a:srgbClr val="00285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理事长：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王福明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荣誉理事长：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陈俊杰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1828801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副理事长：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1828801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白尚旺、刘全明、靳黎忠、刘运涛、</a:t>
            </a:r>
            <a:br/>
            <a:r>
              <a:t>苑小军、刘东新、郑亚彤、任凌云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182880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法人：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182880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任凌云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182880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秘书长：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182880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邱静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1828803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监事长：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1828803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吴占分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1828804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党支部书记：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182880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吴占分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</a:defRPr>
            </a:pPr>
            <a:r>
              <a:t>理事单位（30家）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1645920"/>
            <a:ext cx="5486400" cy="4754880"/>
          </a:xfrm>
          <a:prstGeom prst="roundRect">
            <a:avLst/>
          </a:prstGeom>
          <a:solidFill>
            <a:srgbClr val="00285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182880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太原清众鑫科技有限公司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182880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山西晋信安科技有限公司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1828801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山西好友科技发展有限公司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1828801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山西赛盾网络安全测评技术有限公司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182880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山西省信息化和信息安全评测中心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182880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山西因弗美讯科技有限公司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1828803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山西蓝荧科技有限公司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1828803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山西三友和智慧信息技术股份有限公司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1828804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山西有信网安科技有限公司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1828804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山西众成达信息技术服务有限公司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1828805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...(共30家)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3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9" y="0"/>
            <a:ext cx="13716" cy="685800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0"/>
            <a:ext cx="13716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7840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5681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935224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913632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48856"/>
            <a:ext cx="12191695" cy="7315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7990" y="2989649"/>
            <a:ext cx="160724" cy="16072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66434" y="2318075"/>
            <a:ext cx="124556" cy="12455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1682" y="1052963"/>
            <a:ext cx="100071" cy="10007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27696" y="5755727"/>
            <a:ext cx="135919" cy="13591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633" y="3509078"/>
            <a:ext cx="158661" cy="15866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63340" y="4762026"/>
            <a:ext cx="46300" cy="463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63841" y="5773960"/>
            <a:ext cx="158899" cy="15889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36604" y="1916890"/>
            <a:ext cx="129285" cy="12928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89176" y="1366350"/>
            <a:ext cx="96174" cy="96174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41757" y="3346491"/>
            <a:ext cx="81342" cy="8134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88275" y="4778401"/>
            <a:ext cx="114191" cy="11419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97789" y="2270361"/>
            <a:ext cx="180292" cy="18029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664" y="1682223"/>
            <a:ext cx="94431" cy="9443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24766" y="1779935"/>
            <a:ext cx="84275" cy="8427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29275" y="1739989"/>
            <a:ext cx="92015" cy="9201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3237" y="5306386"/>
            <a:ext cx="158575" cy="158575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37655" y="660882"/>
            <a:ext cx="112197" cy="112197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18728" y="5267291"/>
            <a:ext cx="176683" cy="17668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49098" y="4126291"/>
            <a:ext cx="70509" cy="7050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194466" y="3487498"/>
            <a:ext cx="52453" cy="52453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30074" y="1312078"/>
            <a:ext cx="130512" cy="13051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88488" y="879843"/>
            <a:ext cx="151521" cy="151521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07544" y="4044588"/>
            <a:ext cx="117266" cy="117266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65837" y="3492992"/>
            <a:ext cx="71039" cy="71039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453929" y="4495058"/>
            <a:ext cx="181442" cy="181442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66590" y="1828800"/>
            <a:ext cx="3657600" cy="3657600"/>
          </a:xfrm>
          <a:prstGeom prst="ellipse">
            <a:avLst/>
          </a:prstGeom>
          <a:solidFill>
            <a:srgbClr val="002850"/>
          </a:solidFill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FFFF"/>
                </a:solidFill>
              </a:defRPr>
            </a:pPr>
            <a:r>
              <a:t>感谢聆听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太原市网络空间安全协会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303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携手共建网络安全生态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