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288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FFFF"/>
                </a:solidFill>
              </a:defRPr>
            </a:pPr>
            <a:r>
              <a:t>太原市网络空间安全协会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第一届理事会工作总结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64C8FF"/>
                </a:solidFill>
              </a:defRPr>
            </a:pPr>
            <a:r>
              <a:t>2024-2025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4B4B4"/>
                </a:solidFill>
              </a:defRPr>
            </a:pPr>
            <a:r>
              <a:t>2025年12月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FF"/>
                </a:solidFill>
              </a:defRPr>
            </a:pPr>
            <a:r>
              <a:t>目录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97280"/>
            <a:ext cx="6705295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" y="1371600"/>
            <a:ext cx="731520" cy="73152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1432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371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协会工作情况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7830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2024-2025年度工作回顾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377440"/>
            <a:ext cx="731520" cy="73152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1432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3774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工作亮点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788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核心成就与突出贡献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383280"/>
            <a:ext cx="731520" cy="73152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1432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3832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存在问题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794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当前面临的挑战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4389120"/>
            <a:ext cx="731520" cy="73152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2628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1432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3891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下一步工作计划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800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未来发展蓝图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5394960"/>
            <a:ext cx="731520" cy="73152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321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1432"/>
                </a:solidFill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949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第二届理事会推荐名单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8064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B4B4B4"/>
                </a:solidFill>
              </a:defRPr>
            </a:pPr>
            <a:r>
              <a:t>新一届领导团队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FF"/>
                </a:solidFill>
              </a:defRPr>
            </a:pPr>
            <a:r>
              <a:t>2024年工作情况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97280"/>
            <a:ext cx="6705295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417320"/>
            <a:ext cx="228600" cy="2286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20" y="1280160"/>
            <a:ext cx="4389120" cy="1097280"/>
          </a:xfrm>
          <a:prstGeom prst="roundRect">
            <a:avLst/>
          </a:prstGeom>
          <a:solidFill>
            <a:srgbClr val="003264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Month 7: 向太原市委网信办专题汇报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明晰协会定位与发展路径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697480"/>
            <a:ext cx="228600" cy="2286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188720" y="2560320"/>
            <a:ext cx="4389120" cy="1097280"/>
          </a:xfrm>
          <a:prstGeom prst="roundRect">
            <a:avLst/>
          </a:prstGeom>
          <a:solidFill>
            <a:srgbClr val="003264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265176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Month 9: 参与网络安全宣传周启动仪式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0175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普及网络安全知识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977639"/>
            <a:ext cx="228600" cy="2286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88720" y="3840479"/>
            <a:ext cx="4389120" cy="1097280"/>
          </a:xfrm>
          <a:prstGeom prst="roundRect">
            <a:avLst/>
          </a:prstGeom>
          <a:solidFill>
            <a:srgbClr val="003264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931919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Month 9: 配合市公安局开展法制主题日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97679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强化市民网络安全法律意识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5257800"/>
            <a:ext cx="228600" cy="2286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88720" y="5120640"/>
            <a:ext cx="4389120" cy="1097280"/>
          </a:xfrm>
          <a:prstGeom prst="roundRect">
            <a:avLst/>
          </a:prstGeom>
          <a:solidFill>
            <a:srgbClr val="003264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21208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Month 10: 召开第一届会员大会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57784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正式成立协会</a:t>
            </a:r>
          </a:p>
        </p:txBody>
      </p:sp>
      <p:sp>
        <p:nvSpPr>
          <p:cNvPr id="20" name="Oval 19"/>
          <p:cNvSpPr/>
          <p:nvPr/>
        </p:nvSpPr>
        <p:spPr>
          <a:xfrm>
            <a:off x="6217920" y="1417320"/>
            <a:ext cx="228600" cy="2286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675120" y="1280160"/>
            <a:ext cx="4389120" cy="1097280"/>
          </a:xfrm>
          <a:prstGeom prst="roundRect">
            <a:avLst/>
          </a:prstGeom>
          <a:solidFill>
            <a:srgbClr val="003264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0" y="137160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Month 10: 主办卫生健康网络安全培训班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173736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38家医疗机构140余人参与</a:t>
            </a:r>
          </a:p>
        </p:txBody>
      </p:sp>
      <p:sp>
        <p:nvSpPr>
          <p:cNvPr id="24" name="Oval 23"/>
          <p:cNvSpPr/>
          <p:nvPr/>
        </p:nvSpPr>
        <p:spPr>
          <a:xfrm>
            <a:off x="6217920" y="2697480"/>
            <a:ext cx="228600" cy="2286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675120" y="2560320"/>
            <a:ext cx="4389120" cy="1097280"/>
          </a:xfrm>
          <a:prstGeom prst="roundRect">
            <a:avLst/>
          </a:prstGeom>
          <a:solidFill>
            <a:srgbClr val="003264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265176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Month 11: 赴市科协拜访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0175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提交加入市科协申请</a:t>
            </a:r>
          </a:p>
        </p:txBody>
      </p:sp>
      <p:sp>
        <p:nvSpPr>
          <p:cNvPr id="28" name="Oval 27"/>
          <p:cNvSpPr/>
          <p:nvPr/>
        </p:nvSpPr>
        <p:spPr>
          <a:xfrm>
            <a:off x="6217920" y="3977639"/>
            <a:ext cx="228600" cy="2286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675120" y="3840479"/>
            <a:ext cx="4389120" cy="1097280"/>
          </a:xfrm>
          <a:prstGeom prst="roundRect">
            <a:avLst/>
          </a:prstGeom>
          <a:solidFill>
            <a:srgbClr val="003264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3931919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Month 12: 参加企业社会责任蓝皮书发布会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4297679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深化跨领域合作</a:t>
            </a:r>
          </a:p>
        </p:txBody>
      </p:sp>
      <p:sp>
        <p:nvSpPr>
          <p:cNvPr id="32" name="Oval 31"/>
          <p:cNvSpPr/>
          <p:nvPr/>
        </p:nvSpPr>
        <p:spPr>
          <a:xfrm>
            <a:off x="6217920" y="5257800"/>
            <a:ext cx="228600" cy="22860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675120" y="5120640"/>
            <a:ext cx="4389120" cy="1097280"/>
          </a:xfrm>
          <a:prstGeom prst="roundRect">
            <a:avLst/>
          </a:prstGeom>
          <a:solidFill>
            <a:srgbClr val="003264"/>
          </a:solidFill>
          <a:ln w="127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5212080"/>
            <a:ext cx="4023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FFFF"/>
                </a:solidFill>
              </a:defRPr>
            </a:pPr>
            <a:r>
              <a:t>Month 12: 联合举办国企等保测评培训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557784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市属国企150余人参加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FF"/>
                </a:solidFill>
              </a:defRPr>
            </a:pPr>
            <a:r>
              <a:t>2025年协会成立后工作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97280"/>
            <a:ext cx="6705295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73152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Month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取得社会团体法人登记证书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完成正式注册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17520"/>
            <a:ext cx="73152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Month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383280"/>
            <a:ext cx="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向市委网信办和市公安局汇报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获得主管部门支持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754879"/>
            <a:ext cx="73152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754879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Month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20639"/>
            <a:ext cx="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医疗机构安全巡检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760719"/>
            <a:ext cx="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发现大量安全隐患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1280160"/>
            <a:ext cx="73152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28016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Month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645920"/>
            <a:ext cx="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承办首席网络安全官培训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286000"/>
            <a:ext cx="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市委网信办/市公安局/国资委主办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0" y="3017520"/>
            <a:ext cx="73152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01752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Month 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383280"/>
            <a:ext cx="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走访调研测评机构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023360"/>
            <a:ext cx="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了解测评市场现状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4754879"/>
            <a:ext cx="73152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4754879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Month 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0" y="5120639"/>
            <a:ext cx="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成立党支部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5760719"/>
            <a:ext cx="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吴占分任党支部书记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1280160"/>
            <a:ext cx="73152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128016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Month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1645920"/>
            <a:ext cx="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签署等保测评自律公约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2286000"/>
            <a:ext cx="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省内六家机构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3017520"/>
            <a:ext cx="73152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20" y="301752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Month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3383280"/>
            <a:ext cx="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邀请云时代公司考察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4023360"/>
            <a:ext cx="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技术交流合作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4754879"/>
            <a:ext cx="73152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46720" y="4754879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Month 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120639"/>
            <a:ext cx="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国企入户安全辅导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760719"/>
            <a:ext cx="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近20家市属国企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6492240"/>
            <a:ext cx="73152" cy="1554480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0" y="6492240"/>
            <a:ext cx="3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FFFF"/>
                </a:solidFill>
              </a:defRPr>
            </a:pPr>
            <a:r>
              <a:t>Month 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6858000"/>
            <a:ext cx="3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开通协会公众号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7498080"/>
            <a:ext cx="3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B4B4B4"/>
                </a:solidFill>
              </a:defRPr>
            </a:pPr>
            <a:r>
              <a:t>增加宣传渠道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FF"/>
                </a:solidFill>
              </a:defRPr>
            </a:pPr>
            <a:r>
              <a:t>工作亮点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97280"/>
            <a:ext cx="6705295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3474720" cy="4572000"/>
          </a:xfrm>
          <a:prstGeom prst="roundRect">
            <a:avLst/>
          </a:prstGeom>
          <a:solidFill>
            <a:srgbClr val="002850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64592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5603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Efficient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3291840"/>
            <a:ext cx="2926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From preparation to establishment</a:t>
            </a:r>
            <a:br/>
            <a:r>
              <a:t>Only 5 months</a:t>
            </a:r>
            <a:br/>
            <a:r>
              <a:t>Outstanding coordination 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1371600"/>
            <a:ext cx="3474720" cy="4572000"/>
          </a:xfrm>
          <a:prstGeom prst="roundRect">
            <a:avLst/>
          </a:prstGeom>
          <a:solidFill>
            <a:srgbClr val="002850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64592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FFFF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5603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Precise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3291840"/>
            <a:ext cx="2926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Focus on healthcare and enterprise sectors</a:t>
            </a:r>
            <a:br/>
            <a:r>
              <a:t>Covered nearly 500 professionals</a:t>
            </a:r>
            <a:br/>
            <a:r>
              <a:t>Improved industry protection level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1371600"/>
            <a:ext cx="3474720" cy="4572000"/>
          </a:xfrm>
          <a:prstGeom prst="roundRect">
            <a:avLst/>
          </a:prstGeom>
          <a:solidFill>
            <a:srgbClr val="002850"/>
          </a:solidFill>
          <a:ln w="2540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0" y="1645920"/>
            <a:ext cx="2926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00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560320"/>
            <a:ext cx="29260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Government Collaboration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291840"/>
            <a:ext cx="292608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</a:defRPr>
            </a:pPr>
            <a:r>
              <a:t>Deep cooperation with Cyberspace Office and Police</a:t>
            </a:r>
            <a:br/>
            <a:r>
              <a:t>Participated in various activities</a:t>
            </a:r>
            <a:br/>
            <a:r>
              <a:t>Enhanced social credibility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FFFF"/>
                </a:solidFill>
              </a:defRPr>
            </a:pPr>
            <a:r>
              <a:t>存在问题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97280"/>
            <a:ext cx="6705295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2377440"/>
          </a:xfrm>
          <a:prstGeom prst="roundRect">
            <a:avLst/>
          </a:prstGeom>
          <a:solidFill>
            <a:srgbClr val="501414"/>
          </a:solidFill>
          <a:ln w="254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696"/>
                </a:solidFill>
              </a:defRPr>
            </a:pPr>
            <a:r>
              <a:t>WARNING: Incomplete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Lack of member base and visibility</a:t>
            </a:r>
            <a:br/>
            <a:r>
              <a:t>Self-discipline committee not operational</a:t>
            </a:r>
            <a:br/>
            <a:r>
              <a:t>Expert committee not established</a:t>
            </a:r>
            <a:br/>
            <a:r>
              <a:t>Party branch activities missing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486400" cy="2377440"/>
          </a:xfrm>
          <a:prstGeom prst="roundRect">
            <a:avLst/>
          </a:prstGeom>
          <a:solidFill>
            <a:srgbClr val="501414"/>
          </a:solidFill>
          <a:ln w="254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6304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696"/>
                </a:solidFill>
              </a:defRPr>
            </a:pPr>
            <a:r>
              <a:t>WARNING: Staff Shortage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011680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Lack of full-time staff</a:t>
            </a:r>
            <a:br/>
            <a:r>
              <a:t>Difficult to handle all work</a:t>
            </a:r>
            <a:br/>
            <a:r>
              <a:t>Often overwhelmed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931920"/>
            <a:ext cx="5486400" cy="2377440"/>
          </a:xfrm>
          <a:prstGeom prst="roundRect">
            <a:avLst/>
          </a:prstGeom>
          <a:solidFill>
            <a:srgbClr val="501414"/>
          </a:solidFill>
          <a:ln w="254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696"/>
                </a:solidFill>
              </a:defRPr>
            </a:pPr>
            <a:r>
              <a:t>WARNING: Funding Difficulties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Salaries in arrears</a:t>
            </a:r>
            <a:br/>
            <a:r>
              <a:t>No budget for accounting</a:t>
            </a:r>
            <a:br/>
            <a:r>
              <a:t>Rent and registration paid by individuals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5486400" cy="2377440"/>
          </a:xfrm>
          <a:prstGeom prst="roundRect">
            <a:avLst/>
          </a:prstGeom>
          <a:solidFill>
            <a:srgbClr val="501414"/>
          </a:solidFill>
          <a:ln w="25400">
            <a:solidFill>
              <a:srgbClr val="FF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41148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9696"/>
                </a:solidFill>
              </a:defRPr>
            </a:pPr>
            <a:r>
              <a:t>WARNING: Insufficient Activities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663440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Few academic exchanges and training</a:t>
            </a:r>
            <a:br/>
            <a:r>
              <a:t>Lack of industry influence</a:t>
            </a:r>
            <a:br/>
            <a:r>
              <a:t>Weak public account promotion</a:t>
            </a:r>
            <a:br/>
            <a:r>
              <a:t>Slow progress on evaluation software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FFFF"/>
                </a:solidFill>
              </a:defRPr>
            </a:pPr>
            <a:r>
              <a:t>下一步工作计划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97280"/>
            <a:ext cx="6705295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640080" cy="64008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1432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1280160"/>
            <a:ext cx="9601200" cy="1097280"/>
          </a:xfrm>
          <a:prstGeom prst="roundRect">
            <a:avLst/>
          </a:prstGeom>
          <a:solidFill>
            <a:srgbClr val="003C78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20240" y="14173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FFF"/>
                </a:solidFill>
              </a:defRPr>
            </a:pPr>
            <a:r>
              <a:t>Chairman Office Meeting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7452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Summarize work, propose restructuring, recommend candidates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697479"/>
            <a:ext cx="640080" cy="64008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34639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1432"/>
                </a:solidFill>
              </a:defRPr>
            </a:pPr>
            <a:r>
              <a:t>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2606039"/>
            <a:ext cx="9601200" cy="1097280"/>
          </a:xfrm>
          <a:prstGeom prst="roundRect">
            <a:avLst/>
          </a:prstGeom>
          <a:solidFill>
            <a:srgbClr val="003C78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2743199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FFF"/>
                </a:solidFill>
              </a:defRPr>
            </a:pPr>
            <a:r>
              <a:t>Second Members Congress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3200399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Elect new council members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4023360"/>
            <a:ext cx="640080" cy="64008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6052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1432"/>
                </a:solidFill>
              </a:defRPr>
            </a:pPr>
            <a:r>
              <a:t>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645920" y="3931920"/>
            <a:ext cx="9601200" cy="1097280"/>
          </a:xfrm>
          <a:prstGeom prst="roundRect">
            <a:avLst/>
          </a:prstGeom>
          <a:solidFill>
            <a:srgbClr val="003C78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406908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FFF"/>
                </a:solidFill>
              </a:defRPr>
            </a:pPr>
            <a:r>
              <a:t>Second Council First Meeting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452628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Elect chairman and vice chairmen, appoint secretary-general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349240"/>
            <a:ext cx="640080" cy="640080"/>
          </a:xfrm>
          <a:prstGeom prst="ellipse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640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A1432"/>
                </a:solidFill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45920" y="5257800"/>
            <a:ext cx="9601200" cy="1097280"/>
          </a:xfrm>
          <a:prstGeom prst="roundRect">
            <a:avLst/>
          </a:prstGeom>
          <a:solidFill>
            <a:srgbClr val="003C78"/>
          </a:solidFill>
          <a:ln w="19050">
            <a:solidFill>
              <a:srgbClr val="00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20240" y="539496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FFFF"/>
                </a:solidFill>
              </a:defRPr>
            </a:pPr>
            <a:r>
              <a:t>Second Chairman Office Meeting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852160"/>
            <a:ext cx="9144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Deploy next phase work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00FFFF"/>
                </a:solidFill>
              </a:defRPr>
            </a:pPr>
            <a:r>
              <a:t>第二届理事会推荐名单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0" y="1097280"/>
            <a:ext cx="6705295" cy="18288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</a:defRPr>
            </a:pPr>
            <a:r>
              <a:t>Association Leadership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C8FF"/>
                </a:solidFill>
              </a:defRPr>
            </a:pPr>
            <a:r>
              <a:t>Chairman: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737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Wang Fuming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C8FF"/>
                </a:solidFill>
              </a:defRPr>
            </a:pPr>
            <a:r>
              <a:t>Honorary Chairman: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73736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Chen Junjie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1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C8FF"/>
                </a:solidFill>
              </a:defRPr>
            </a:pPr>
            <a:r>
              <a:t>Vice Chairmen: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37361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Bai Shangwang, Liu Quanming, Jin Licong, Liu Yuntao, Yuan Xiaojun, Liu Dongxin, Zheng Yatong, Ren Lingyun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2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C8FF"/>
                </a:solidFill>
              </a:defRPr>
            </a:pPr>
            <a:r>
              <a:t>Legal Representative: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173736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Ren Lingyun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737362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C8FF"/>
                </a:solidFill>
              </a:defRPr>
            </a:pPr>
            <a:r>
              <a:t>Secretary General: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173736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Qiu Jing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737363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C8FF"/>
                </a:solidFill>
              </a:defRPr>
            </a:pPr>
            <a:r>
              <a:t>Supervisory Chairman: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1737363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Wu Zhanfen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737364"/>
            <a:ext cx="1645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4C8FF"/>
                </a:solidFill>
              </a:defRPr>
            </a:pPr>
            <a:r>
              <a:t>Party Secretary: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173736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FFFFFF"/>
                </a:solidFill>
              </a:defRPr>
            </a:pPr>
            <a:r>
              <a:t>Wu Zhanfen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188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FFFF"/>
                </a:solidFill>
              </a:defRPr>
            </a:pPr>
            <a:r>
              <a:t>Council Members (30 companies)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1737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* Taiyuan Qingzhongxin Technology Co.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* Shanxi Jinxin'an Technology Co.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737361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* Shanxi Haoyou Technology Development Co.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1737361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* Shanxi Saidun Network Security Evaluation Co.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1737362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* Shanxi Information Security Evaluation Center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1737362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* Shanxi Yinfumeixun Technology Co.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737363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* Shanxi Lanying Technology Co.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1737363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* Shanxi Sanyouhe Smart Information Technology Co.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737364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* Shanxi Youxin Network Security Technology Co.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1737364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* Shanxi Zhongchengda Information Service Co.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1737365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* ...(Total 30 companies)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" cy="68580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9144" cy="68580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9144" cy="68580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9144" cy="68580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9144" cy="68580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9144" cy="68580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9144" cy="68580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FFFF"/>
                </a:solidFill>
              </a:defRPr>
            </a:pPr>
            <a: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6576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Taiyuan Cyberspace Security Association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B4B4B4"/>
                </a:solidFill>
              </a:defRPr>
            </a:pPr>
            <a:r>
              <a:t>Building Cybersecurity Ecosystem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